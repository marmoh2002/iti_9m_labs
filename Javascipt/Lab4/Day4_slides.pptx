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
  </p:notesMasterIdLst>
  <p:sldIdLst>
    <p:sldId id="544" r:id="rId2"/>
    <p:sldId id="545" r:id="rId3"/>
    <p:sldId id="543" r:id="rId4"/>
    <p:sldId id="548" r:id="rId5"/>
    <p:sldId id="549" r:id="rId6"/>
    <p:sldId id="550" r:id="rId7"/>
    <p:sldId id="546" r:id="rId8"/>
    <p:sldId id="547"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401F9E-16E0-486A-B4F8-A1E47142A447}" type="datetimeFigureOut">
              <a:rPr lang="en-US" smtClean="0"/>
              <a:t>12/11/2025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623312-39F7-42DE-A7D2-BF784E858EE1}" type="slidenum">
              <a:rPr lang="en-US" smtClean="0"/>
              <a:t>‹#›</a:t>
            </a:fld>
            <a:endParaRPr lang="en-US"/>
          </a:p>
        </p:txBody>
      </p:sp>
    </p:spTree>
    <p:extLst>
      <p:ext uri="{BB962C8B-B14F-4D97-AF65-F5344CB8AC3E}">
        <p14:creationId xmlns:p14="http://schemas.microsoft.com/office/powerpoint/2010/main" val="30139626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65873" y="157387"/>
            <a:ext cx="4457435" cy="472859"/>
          </a:xfrm>
          <a:prstGeom prst="rect">
            <a:avLst/>
          </a:prstGeom>
        </p:spPr>
        <p:txBody>
          <a:bodyPr wrap="square" lIns="0" tIns="0" rIns="0" bIns="0">
            <a:spAutoFit/>
          </a:bodyPr>
          <a:lstStyle>
            <a:lvl1pPr>
              <a:defRPr sz="3002" b="1" i="0">
                <a:solidFill>
                  <a:srgbClr val="FAFBFB"/>
                </a:solidFill>
                <a:latin typeface="Calibri"/>
                <a:cs typeface="Calibri"/>
              </a:defRPr>
            </a:lvl1pPr>
          </a:lstStyle>
          <a:p>
            <a:endParaRPr/>
          </a:p>
        </p:txBody>
      </p:sp>
      <p:sp>
        <p:nvSpPr>
          <p:cNvPr id="3" name="Holder 3"/>
          <p:cNvSpPr>
            <a:spLocks noGrp="1"/>
          </p:cNvSpPr>
          <p:nvPr>
            <p:ph type="subTitle" idx="4"/>
          </p:nvPr>
        </p:nvSpPr>
        <p:spPr>
          <a:xfrm>
            <a:off x="4024449" y="4139451"/>
            <a:ext cx="4092754" cy="1234516"/>
          </a:xfrm>
          <a:prstGeom prst="rect">
            <a:avLst/>
          </a:prstGeom>
        </p:spPr>
        <p:txBody>
          <a:bodyPr wrap="square" lIns="0" tIns="0" rIns="0" bIns="0">
            <a:spAutoFit/>
          </a:bodyPr>
          <a:lstStyle>
            <a:lvl1pPr>
              <a:defRPr sz="8004" b="0" i="0">
                <a:solidFill>
                  <a:srgbClr val="444444"/>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12/11/2025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5515907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365873" y="178023"/>
            <a:ext cx="6704830" cy="461986"/>
          </a:xfrm>
        </p:spPr>
        <p:txBody>
          <a:bodyPr lIns="0" tIns="0" rIns="0" bIns="0"/>
          <a:lstStyle>
            <a:lvl1pPr>
              <a:defRPr sz="3002" b="1" i="0">
                <a:solidFill>
                  <a:srgbClr val="FAFBFB"/>
                </a:solidFill>
                <a:latin typeface="Calibri"/>
                <a:cs typeface="Calibri"/>
              </a:defRPr>
            </a:lvl1pPr>
          </a:lstStyle>
          <a:p>
            <a:endParaRPr/>
          </a:p>
        </p:txBody>
      </p:sp>
      <p:sp>
        <p:nvSpPr>
          <p:cNvPr id="3" name="Holder 3"/>
          <p:cNvSpPr>
            <a:spLocks noGrp="1"/>
          </p:cNvSpPr>
          <p:nvPr>
            <p:ph type="body" idx="1"/>
          </p:nvPr>
        </p:nvSpPr>
        <p:spPr>
          <a:xfrm>
            <a:off x="5756193" y="1796924"/>
            <a:ext cx="5755964" cy="200696"/>
          </a:xfrm>
        </p:spPr>
        <p:txBody>
          <a:bodyPr lIns="0" tIns="0" rIns="0" bIns="0"/>
          <a:lstStyle>
            <a:lvl1pPr>
              <a:defRPr sz="1304" b="0" i="0">
                <a:solidFill>
                  <a:srgbClr val="444444"/>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12/11/2025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1947177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365873" y="178023"/>
            <a:ext cx="6704830" cy="461986"/>
          </a:xfrm>
        </p:spPr>
        <p:txBody>
          <a:bodyPr lIns="0" tIns="0" rIns="0" bIns="0"/>
          <a:lstStyle>
            <a:lvl1pPr>
              <a:defRPr sz="3002" b="1" i="0">
                <a:solidFill>
                  <a:srgbClr val="FAFBFB"/>
                </a:solidFill>
                <a:latin typeface="Calibri"/>
                <a:cs typeface="Calibri"/>
              </a:defRPr>
            </a:lvl1pPr>
          </a:lstStyle>
          <a:p>
            <a:endParaRPr/>
          </a:p>
        </p:txBody>
      </p:sp>
      <p:sp>
        <p:nvSpPr>
          <p:cNvPr id="3" name="Holder 3"/>
          <p:cNvSpPr>
            <a:spLocks noGrp="1"/>
          </p:cNvSpPr>
          <p:nvPr>
            <p:ph sz="half" idx="2"/>
          </p:nvPr>
        </p:nvSpPr>
        <p:spPr>
          <a:xfrm>
            <a:off x="953545" y="2001466"/>
            <a:ext cx="4600689" cy="214674"/>
          </a:xfrm>
          <a:prstGeom prst="rect">
            <a:avLst/>
          </a:prstGeom>
        </p:spPr>
        <p:txBody>
          <a:bodyPr wrap="square" lIns="0" tIns="0" rIns="0" bIns="0">
            <a:spAutoFit/>
          </a:bodyPr>
          <a:lstStyle>
            <a:lvl1pPr>
              <a:defRPr sz="1395" b="0" i="0">
                <a:solidFill>
                  <a:srgbClr val="444444"/>
                </a:solidFill>
                <a:latin typeface="Arial"/>
                <a:cs typeface="Arial"/>
              </a:defRPr>
            </a:lvl1pPr>
          </a:lstStyle>
          <a:p>
            <a:endParaRPr/>
          </a:p>
        </p:txBody>
      </p:sp>
      <p:sp>
        <p:nvSpPr>
          <p:cNvPr id="4" name="Holder 4"/>
          <p:cNvSpPr>
            <a:spLocks noGrp="1"/>
          </p:cNvSpPr>
          <p:nvPr>
            <p:ph sz="half" idx="3"/>
          </p:nvPr>
        </p:nvSpPr>
        <p:spPr>
          <a:xfrm>
            <a:off x="6605181" y="1373205"/>
            <a:ext cx="4912999" cy="261290"/>
          </a:xfrm>
          <a:prstGeom prst="rect">
            <a:avLst/>
          </a:prstGeom>
        </p:spPr>
        <p:txBody>
          <a:bodyPr wrap="square" lIns="0" tIns="0" rIns="0" bIns="0">
            <a:spAutoFit/>
          </a:bodyPr>
          <a:lstStyle>
            <a:lvl1pPr>
              <a:defRPr sz="1698" b="1" i="0">
                <a:solidFill>
                  <a:srgbClr val="444444"/>
                </a:solidFill>
                <a:latin typeface="Arial"/>
                <a:cs typeface="Arial"/>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12/11/2025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8698108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365873" y="178023"/>
            <a:ext cx="6704830" cy="461986"/>
          </a:xfrm>
        </p:spPr>
        <p:txBody>
          <a:bodyPr lIns="0" tIns="0" rIns="0" bIns="0"/>
          <a:lstStyle>
            <a:lvl1pPr>
              <a:defRPr sz="3002" b="1" i="0">
                <a:solidFill>
                  <a:srgbClr val="FAFBFB"/>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12/11/2025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7975375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12/11/2025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92862343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7615"/>
          </a:xfrm>
          <a:custGeom>
            <a:avLst/>
            <a:gdLst/>
            <a:ahLst/>
            <a:cxnLst/>
            <a:rect l="l" t="t" r="r" b="b"/>
            <a:pathLst>
              <a:path w="20104100" h="11308715">
                <a:moveTo>
                  <a:pt x="20104099" y="0"/>
                </a:moveTo>
                <a:lnTo>
                  <a:pt x="0" y="0"/>
                </a:lnTo>
                <a:lnTo>
                  <a:pt x="0" y="11308556"/>
                </a:lnTo>
                <a:lnTo>
                  <a:pt x="20104099" y="11308556"/>
                </a:lnTo>
                <a:lnTo>
                  <a:pt x="20104099" y="0"/>
                </a:lnTo>
                <a:close/>
              </a:path>
            </a:pathLst>
          </a:custGeom>
          <a:solidFill>
            <a:srgbClr val="F7F7F7"/>
          </a:solidFill>
        </p:spPr>
        <p:txBody>
          <a:bodyPr wrap="square" lIns="0" tIns="0" rIns="0" bIns="0" rtlCol="0"/>
          <a:lstStyle/>
          <a:p>
            <a:endParaRPr sz="1092"/>
          </a:p>
        </p:txBody>
      </p:sp>
      <p:sp>
        <p:nvSpPr>
          <p:cNvPr id="2" name="Holder 2"/>
          <p:cNvSpPr>
            <a:spLocks noGrp="1"/>
          </p:cNvSpPr>
          <p:nvPr>
            <p:ph type="title"/>
          </p:nvPr>
        </p:nvSpPr>
        <p:spPr>
          <a:xfrm>
            <a:off x="365873" y="178023"/>
            <a:ext cx="6704830" cy="761747"/>
          </a:xfrm>
          <a:prstGeom prst="rect">
            <a:avLst/>
          </a:prstGeom>
        </p:spPr>
        <p:txBody>
          <a:bodyPr wrap="square" lIns="0" tIns="0" rIns="0" bIns="0">
            <a:spAutoFit/>
          </a:bodyPr>
          <a:lstStyle>
            <a:lvl1pPr>
              <a:defRPr sz="4950" b="1" i="0">
                <a:solidFill>
                  <a:srgbClr val="FAFBFB"/>
                </a:solidFill>
                <a:latin typeface="Calibri"/>
                <a:cs typeface="Calibri"/>
              </a:defRPr>
            </a:lvl1pPr>
          </a:lstStyle>
          <a:p>
            <a:endParaRPr/>
          </a:p>
        </p:txBody>
      </p:sp>
      <p:sp>
        <p:nvSpPr>
          <p:cNvPr id="3" name="Holder 3"/>
          <p:cNvSpPr>
            <a:spLocks noGrp="1"/>
          </p:cNvSpPr>
          <p:nvPr>
            <p:ph type="body" idx="1"/>
          </p:nvPr>
        </p:nvSpPr>
        <p:spPr>
          <a:xfrm>
            <a:off x="5756193" y="1796924"/>
            <a:ext cx="5755964" cy="330860"/>
          </a:xfrm>
          <a:prstGeom prst="rect">
            <a:avLst/>
          </a:prstGeom>
        </p:spPr>
        <p:txBody>
          <a:bodyPr wrap="square" lIns="0" tIns="0" rIns="0" bIns="0">
            <a:spAutoFit/>
          </a:bodyPr>
          <a:lstStyle>
            <a:lvl1pPr>
              <a:defRPr sz="2150" b="0" i="0">
                <a:solidFill>
                  <a:srgbClr val="444444"/>
                </a:solidFill>
                <a:latin typeface="Arial"/>
                <a:cs typeface="Arial"/>
              </a:defRPr>
            </a:lvl1pPr>
          </a:lstStyle>
          <a:p>
            <a:endParaRPr/>
          </a:p>
        </p:txBody>
      </p:sp>
      <p:sp>
        <p:nvSpPr>
          <p:cNvPr id="4" name="Holder 4"/>
          <p:cNvSpPr>
            <a:spLocks noGrp="1"/>
          </p:cNvSpPr>
          <p:nvPr>
            <p:ph type="ftr" sz="quarter" idx="5"/>
          </p:nvPr>
        </p:nvSpPr>
        <p:spPr>
          <a:xfrm>
            <a:off x="4145280" y="6377940"/>
            <a:ext cx="3901440"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12/11/2025</a:t>
            </a:fld>
            <a:endParaRPr lang="en-US"/>
          </a:p>
        </p:txBody>
      </p:sp>
      <p:sp>
        <p:nvSpPr>
          <p:cNvPr id="6" name="Holder 6"/>
          <p:cNvSpPr>
            <a:spLocks noGrp="1"/>
          </p:cNvSpPr>
          <p:nvPr>
            <p:ph type="sldNum" sz="quarter" idx="7"/>
          </p:nvPr>
        </p:nvSpPr>
        <p:spPr>
          <a:xfrm>
            <a:off x="8778241" y="6377940"/>
            <a:ext cx="2804160"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406139035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277246">
        <a:defRPr>
          <a:latin typeface="+mn-lt"/>
          <a:ea typeface="+mn-ea"/>
          <a:cs typeface="+mn-cs"/>
        </a:defRPr>
      </a:lvl2pPr>
      <a:lvl3pPr marL="554492">
        <a:defRPr>
          <a:latin typeface="+mn-lt"/>
          <a:ea typeface="+mn-ea"/>
          <a:cs typeface="+mn-cs"/>
        </a:defRPr>
      </a:lvl3pPr>
      <a:lvl4pPr marL="831738">
        <a:defRPr>
          <a:latin typeface="+mn-lt"/>
          <a:ea typeface="+mn-ea"/>
          <a:cs typeface="+mn-cs"/>
        </a:defRPr>
      </a:lvl4pPr>
      <a:lvl5pPr marL="1108984">
        <a:defRPr>
          <a:latin typeface="+mn-lt"/>
          <a:ea typeface="+mn-ea"/>
          <a:cs typeface="+mn-cs"/>
        </a:defRPr>
      </a:lvl5pPr>
      <a:lvl6pPr marL="1386230">
        <a:defRPr>
          <a:latin typeface="+mn-lt"/>
          <a:ea typeface="+mn-ea"/>
          <a:cs typeface="+mn-cs"/>
        </a:defRPr>
      </a:lvl6pPr>
      <a:lvl7pPr marL="1663476">
        <a:defRPr>
          <a:latin typeface="+mn-lt"/>
          <a:ea typeface="+mn-ea"/>
          <a:cs typeface="+mn-cs"/>
        </a:defRPr>
      </a:lvl7pPr>
      <a:lvl8pPr marL="1940723">
        <a:defRPr>
          <a:latin typeface="+mn-lt"/>
          <a:ea typeface="+mn-ea"/>
          <a:cs typeface="+mn-cs"/>
        </a:defRPr>
      </a:lvl8pPr>
      <a:lvl9pPr marL="2217969">
        <a:defRPr>
          <a:latin typeface="+mn-lt"/>
          <a:ea typeface="+mn-ea"/>
          <a:cs typeface="+mn-cs"/>
        </a:defRPr>
      </a:lvl9pPr>
    </p:bodyStyle>
    <p:otherStyle>
      <a:lvl1pPr marL="0">
        <a:defRPr>
          <a:latin typeface="+mn-lt"/>
          <a:ea typeface="+mn-ea"/>
          <a:cs typeface="+mn-cs"/>
        </a:defRPr>
      </a:lvl1pPr>
      <a:lvl2pPr marL="277246">
        <a:defRPr>
          <a:latin typeface="+mn-lt"/>
          <a:ea typeface="+mn-ea"/>
          <a:cs typeface="+mn-cs"/>
        </a:defRPr>
      </a:lvl2pPr>
      <a:lvl3pPr marL="554492">
        <a:defRPr>
          <a:latin typeface="+mn-lt"/>
          <a:ea typeface="+mn-ea"/>
          <a:cs typeface="+mn-cs"/>
        </a:defRPr>
      </a:lvl3pPr>
      <a:lvl4pPr marL="831738">
        <a:defRPr>
          <a:latin typeface="+mn-lt"/>
          <a:ea typeface="+mn-ea"/>
          <a:cs typeface="+mn-cs"/>
        </a:defRPr>
      </a:lvl4pPr>
      <a:lvl5pPr marL="1108984">
        <a:defRPr>
          <a:latin typeface="+mn-lt"/>
          <a:ea typeface="+mn-ea"/>
          <a:cs typeface="+mn-cs"/>
        </a:defRPr>
      </a:lvl5pPr>
      <a:lvl6pPr marL="1386230">
        <a:defRPr>
          <a:latin typeface="+mn-lt"/>
          <a:ea typeface="+mn-ea"/>
          <a:cs typeface="+mn-cs"/>
        </a:defRPr>
      </a:lvl6pPr>
      <a:lvl7pPr marL="1663476">
        <a:defRPr>
          <a:latin typeface="+mn-lt"/>
          <a:ea typeface="+mn-ea"/>
          <a:cs typeface="+mn-cs"/>
        </a:defRPr>
      </a:lvl7pPr>
      <a:lvl8pPr marL="1940723">
        <a:defRPr>
          <a:latin typeface="+mn-lt"/>
          <a:ea typeface="+mn-ea"/>
          <a:cs typeface="+mn-cs"/>
        </a:defRPr>
      </a:lvl8pPr>
      <a:lvl9pPr marL="2217969">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 name="object 45"/>
          <p:cNvPicPr/>
          <p:nvPr/>
        </p:nvPicPr>
        <p:blipFill>
          <a:blip r:embed="rId2" cstate="print"/>
          <a:stretch>
            <a:fillRect/>
          </a:stretch>
        </p:blipFill>
        <p:spPr>
          <a:xfrm>
            <a:off x="428" y="0"/>
            <a:ext cx="12191144" cy="825442"/>
          </a:xfrm>
          <a:prstGeom prst="rect">
            <a:avLst/>
          </a:prstGeom>
        </p:spPr>
      </p:pic>
      <p:sp>
        <p:nvSpPr>
          <p:cNvPr id="46" name="object 46"/>
          <p:cNvSpPr txBox="1">
            <a:spLocks noGrp="1"/>
          </p:cNvSpPr>
          <p:nvPr>
            <p:ph type="title"/>
          </p:nvPr>
        </p:nvSpPr>
        <p:spPr>
          <a:xfrm>
            <a:off x="366274" y="83681"/>
            <a:ext cx="4843177" cy="616785"/>
          </a:xfrm>
          <a:prstGeom prst="rect">
            <a:avLst/>
          </a:prstGeom>
        </p:spPr>
        <p:txBody>
          <a:bodyPr vert="horz" wrap="square" lIns="0" tIns="7316" rIns="0" bIns="0" rtlCol="0">
            <a:spAutoFit/>
          </a:bodyPr>
          <a:lstStyle/>
          <a:p>
            <a:pPr marL="7701">
              <a:spcBef>
                <a:spcPts val="58"/>
              </a:spcBef>
              <a:tabLst>
                <a:tab pos="1309218" algn="l"/>
                <a:tab pos="1946884" algn="l"/>
              </a:tabLst>
            </a:pPr>
            <a:r>
              <a:rPr lang="en-US" dirty="0">
                <a:solidFill>
                  <a:schemeClr val="bg1"/>
                </a:solidFill>
              </a:rPr>
              <a:t>TASKS</a:t>
            </a:r>
            <a:endParaRPr dirty="0">
              <a:solidFill>
                <a:schemeClr val="bg1"/>
              </a:solidFill>
            </a:endParaRPr>
          </a:p>
        </p:txBody>
      </p:sp>
      <p:sp>
        <p:nvSpPr>
          <p:cNvPr id="62" name="Rectangle 3">
            <a:extLst>
              <a:ext uri="{FF2B5EF4-FFF2-40B4-BE49-F238E27FC236}">
                <a16:creationId xmlns:a16="http://schemas.microsoft.com/office/drawing/2014/main" id="{33D61CD0-FB12-8873-EC13-A772FFD8E0FB}"/>
              </a:ext>
            </a:extLst>
          </p:cNvPr>
          <p:cNvSpPr>
            <a:spLocks noChangeArrowheads="1"/>
          </p:cNvSpPr>
          <p:nvPr/>
        </p:nvSpPr>
        <p:spPr bwMode="auto">
          <a:xfrm>
            <a:off x="1052074" y="414331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7">
            <a:extLst>
              <a:ext uri="{FF2B5EF4-FFF2-40B4-BE49-F238E27FC236}">
                <a16:creationId xmlns:a16="http://schemas.microsoft.com/office/drawing/2014/main" id="{F3508B81-98DE-416F-ACCA-ACB8FF8F8D25}"/>
              </a:ext>
            </a:extLst>
          </p:cNvPr>
          <p:cNvSpPr/>
          <p:nvPr/>
        </p:nvSpPr>
        <p:spPr>
          <a:xfrm>
            <a:off x="533399" y="1095989"/>
            <a:ext cx="8539163" cy="4666021"/>
          </a:xfrm>
          <a:prstGeom prst="rect">
            <a:avLst/>
          </a:prstGeom>
        </p:spPr>
        <p:txBody>
          <a:bodyPr wrap="square">
            <a:spAutoFit/>
          </a:bodyPr>
          <a:lstStyle/>
          <a:p>
            <a:pPr marL="342900" lvl="0" indent="-342900" algn="just">
              <a:lnSpc>
                <a:spcPct val="115000"/>
              </a:lnSpc>
              <a:spcBef>
                <a:spcPts val="1200"/>
              </a:spcBef>
              <a:spcAft>
                <a:spcPts val="1000"/>
              </a:spcAft>
              <a:buFont typeface="+mj-lt"/>
              <a:buAutoNum type="arabicPeriod"/>
            </a:pPr>
            <a:r>
              <a:rPr lang="en-US" sz="2000" dirty="0">
                <a:latin typeface="Times New Roman" panose="02020603050405020304" pitchFamily="18" charset="0"/>
                <a:ea typeface="Calibri" panose="020F0502020204030204" pitchFamily="34" charset="0"/>
                <a:cs typeface="Arial" panose="020B0604020202020204" pitchFamily="34" charset="0"/>
              </a:rPr>
              <a:t>Use HTML Dom, to do the following:</a:t>
            </a:r>
            <a:endParaRPr lang="en-US" sz="2000" dirty="0">
              <a:latin typeface="Calibri" panose="020F0502020204030204" pitchFamily="34" charset="0"/>
              <a:ea typeface="Calibri" panose="020F0502020204030204" pitchFamily="34" charset="0"/>
              <a:cs typeface="Arial" panose="020B0604020202020204" pitchFamily="34" charset="0"/>
            </a:endParaRPr>
          </a:p>
          <a:p>
            <a:pPr marL="742950" marR="0" lvl="1" indent="-285750" algn="just">
              <a:lnSpc>
                <a:spcPct val="115000"/>
              </a:lnSpc>
              <a:spcBef>
                <a:spcPts val="1200"/>
              </a:spcBef>
              <a:spcAft>
                <a:spcPts val="1000"/>
              </a:spcAft>
              <a:buFont typeface="+mj-lt"/>
              <a:buAutoNum type="alphaLcPeriod"/>
            </a:pPr>
            <a:r>
              <a:rPr lang="en-US" sz="2000" dirty="0">
                <a:latin typeface="Times New Roman" panose="02020603050405020304" pitchFamily="18" charset="0"/>
                <a:ea typeface="Calibri" panose="020F0502020204030204" pitchFamily="34" charset="0"/>
                <a:cs typeface="Arial" panose="020B0604020202020204" pitchFamily="34" charset="0"/>
              </a:rPr>
              <a:t>Create image node (using </a:t>
            </a:r>
            <a:r>
              <a:rPr lang="en-US" sz="2000" dirty="0" err="1">
                <a:latin typeface="Times New Roman" panose="02020603050405020304" pitchFamily="18" charset="0"/>
                <a:ea typeface="Calibri" panose="020F0502020204030204" pitchFamily="34" charset="0"/>
                <a:cs typeface="Arial" panose="020B0604020202020204" pitchFamily="34" charset="0"/>
              </a:rPr>
              <a:t>document.createElement</a:t>
            </a:r>
            <a:r>
              <a:rPr lang="en-US" sz="2000" dirty="0">
                <a:latin typeface="Times New Roman" panose="02020603050405020304" pitchFamily="18" charset="0"/>
                <a:ea typeface="Calibri" panose="020F0502020204030204" pitchFamily="34" charset="0"/>
                <a:cs typeface="Arial" panose="020B0604020202020204" pitchFamily="34" charset="0"/>
              </a:rPr>
              <a:t>()).</a:t>
            </a:r>
            <a:endParaRPr lang="en-US" sz="2000" dirty="0">
              <a:latin typeface="Calibri" panose="020F0502020204030204" pitchFamily="34" charset="0"/>
              <a:ea typeface="Calibri" panose="020F0502020204030204" pitchFamily="34" charset="0"/>
              <a:cs typeface="Arial" panose="020B0604020202020204" pitchFamily="34" charset="0"/>
            </a:endParaRPr>
          </a:p>
          <a:p>
            <a:pPr marL="742950" marR="0" lvl="1" indent="-285750" algn="just">
              <a:lnSpc>
                <a:spcPct val="115000"/>
              </a:lnSpc>
              <a:spcBef>
                <a:spcPts val="1200"/>
              </a:spcBef>
              <a:spcAft>
                <a:spcPts val="1000"/>
              </a:spcAft>
              <a:buFont typeface="+mj-lt"/>
              <a:buAutoNum type="alphaLcPeriod"/>
            </a:pPr>
            <a:r>
              <a:rPr lang="en-US" sz="2000" dirty="0">
                <a:latin typeface="Times New Roman" panose="02020603050405020304" pitchFamily="18" charset="0"/>
                <a:ea typeface="Calibri" panose="020F0502020204030204" pitchFamily="34" charset="0"/>
                <a:cs typeface="Arial" panose="020B0604020202020204" pitchFamily="34" charset="0"/>
              </a:rPr>
              <a:t>Set it source image (using </a:t>
            </a:r>
            <a:r>
              <a:rPr lang="en-US" sz="2000" dirty="0" err="1">
                <a:latin typeface="Times New Roman" panose="02020603050405020304" pitchFamily="18" charset="0"/>
                <a:ea typeface="Calibri" panose="020F0502020204030204" pitchFamily="34" charset="0"/>
                <a:cs typeface="Arial" panose="020B0604020202020204" pitchFamily="34" charset="0"/>
              </a:rPr>
              <a:t>setAttribute</a:t>
            </a:r>
            <a:r>
              <a:rPr lang="en-US" sz="2000" dirty="0">
                <a:latin typeface="Times New Roman" panose="02020603050405020304" pitchFamily="18" charset="0"/>
                <a:ea typeface="Calibri" panose="020F0502020204030204" pitchFamily="34" charset="0"/>
                <a:cs typeface="Arial" panose="020B0604020202020204" pitchFamily="34" charset="0"/>
              </a:rPr>
              <a:t>()).</a:t>
            </a:r>
            <a:endParaRPr lang="en-US" sz="2000" dirty="0">
              <a:latin typeface="Calibri" panose="020F0502020204030204" pitchFamily="34" charset="0"/>
              <a:ea typeface="Calibri" panose="020F0502020204030204" pitchFamily="34" charset="0"/>
              <a:cs typeface="Arial" panose="020B0604020202020204" pitchFamily="34" charset="0"/>
            </a:endParaRPr>
          </a:p>
          <a:p>
            <a:pPr marL="742950" marR="0" lvl="1" indent="-285750" algn="just">
              <a:lnSpc>
                <a:spcPct val="115000"/>
              </a:lnSpc>
              <a:spcBef>
                <a:spcPts val="1200"/>
              </a:spcBef>
              <a:spcAft>
                <a:spcPts val="1000"/>
              </a:spcAft>
              <a:buFont typeface="+mj-lt"/>
              <a:buAutoNum type="alphaLcPeriod"/>
            </a:pPr>
            <a:r>
              <a:rPr lang="en-US" sz="2000" dirty="0">
                <a:latin typeface="Times New Roman" panose="02020603050405020304" pitchFamily="18" charset="0"/>
                <a:ea typeface="Calibri" panose="020F0502020204030204" pitchFamily="34" charset="0"/>
                <a:cs typeface="Arial" panose="020B0604020202020204" pitchFamily="34" charset="0"/>
              </a:rPr>
              <a:t>Append it to a div on the page (Try </a:t>
            </a:r>
            <a:r>
              <a:rPr lang="en-US" sz="2000" dirty="0" err="1">
                <a:latin typeface="Times New Roman" panose="02020603050405020304" pitchFamily="18" charset="0"/>
                <a:ea typeface="Calibri" panose="020F0502020204030204" pitchFamily="34" charset="0"/>
                <a:cs typeface="Arial" panose="020B0604020202020204" pitchFamily="34" charset="0"/>
              </a:rPr>
              <a:t>appendChild</a:t>
            </a:r>
            <a:r>
              <a:rPr lang="en-US" sz="2000" dirty="0">
                <a:latin typeface="Times New Roman" panose="02020603050405020304" pitchFamily="18" charset="0"/>
                <a:ea typeface="Calibri" panose="020F0502020204030204" pitchFamily="34" charset="0"/>
                <a:cs typeface="Arial" panose="020B0604020202020204" pitchFamily="34" charset="0"/>
              </a:rPr>
              <a:t>() and </a:t>
            </a:r>
            <a:r>
              <a:rPr lang="en-US" sz="2000" dirty="0" err="1">
                <a:latin typeface="Times New Roman" panose="02020603050405020304" pitchFamily="18" charset="0"/>
                <a:ea typeface="Calibri" panose="020F0502020204030204" pitchFamily="34" charset="0"/>
                <a:cs typeface="Arial" panose="020B0604020202020204" pitchFamily="34" charset="0"/>
              </a:rPr>
              <a:t>insertBefore</a:t>
            </a:r>
            <a:r>
              <a:rPr lang="en-US" sz="2000" dirty="0">
                <a:latin typeface="Times New Roman" panose="02020603050405020304" pitchFamily="18" charset="0"/>
                <a:ea typeface="Calibri" panose="020F0502020204030204" pitchFamily="34" charset="0"/>
                <a:cs typeface="Arial" panose="020B0604020202020204" pitchFamily="34" charset="0"/>
              </a:rPr>
              <a:t>(), what’s the difference)?</a:t>
            </a:r>
            <a:r>
              <a:rPr lang="ar-EG" sz="2000" dirty="0">
                <a:latin typeface="Calibri" panose="020F0502020204030204" pitchFamily="34" charset="0"/>
                <a:ea typeface="Calibri" panose="020F0502020204030204" pitchFamily="34" charset="0"/>
                <a:cs typeface="Times New Roman" panose="02020603050405020304" pitchFamily="18" charset="0"/>
              </a:rPr>
              <a:t>	</a:t>
            </a:r>
            <a:endParaRPr lang="en-US" sz="2000" dirty="0">
              <a:latin typeface="Calibri" panose="020F0502020204030204" pitchFamily="34" charset="0"/>
              <a:ea typeface="Calibri" panose="020F0502020204030204" pitchFamily="34" charset="0"/>
              <a:cs typeface="Arial" panose="020B0604020202020204" pitchFamily="34" charset="0"/>
            </a:endParaRPr>
          </a:p>
          <a:p>
            <a:pPr marL="742950" marR="0" lvl="1" indent="-285750" algn="just">
              <a:lnSpc>
                <a:spcPct val="115000"/>
              </a:lnSpc>
              <a:spcBef>
                <a:spcPts val="1200"/>
              </a:spcBef>
              <a:spcAft>
                <a:spcPts val="1000"/>
              </a:spcAft>
              <a:buFont typeface="+mj-lt"/>
              <a:buAutoNum type="alphaLcPeriod"/>
            </a:pPr>
            <a:r>
              <a:rPr lang="en-US" sz="2000" dirty="0">
                <a:latin typeface="Times New Roman" panose="02020603050405020304" pitchFamily="18" charset="0"/>
                <a:ea typeface="Calibri" panose="020F0502020204030204" pitchFamily="34" charset="0"/>
                <a:cs typeface="Arial" panose="020B0604020202020204" pitchFamily="34" charset="0"/>
              </a:rPr>
              <a:t>After appending the image, alert the number of child nodes to the div (Use </a:t>
            </a:r>
            <a:r>
              <a:rPr lang="en-US" sz="2000" dirty="0" err="1">
                <a:latin typeface="Times New Roman" panose="02020603050405020304" pitchFamily="18" charset="0"/>
                <a:ea typeface="Calibri" panose="020F0502020204030204" pitchFamily="34" charset="0"/>
                <a:cs typeface="Arial" panose="020B0604020202020204" pitchFamily="34" charset="0"/>
              </a:rPr>
              <a:t>element.childNodes.length</a:t>
            </a:r>
            <a:r>
              <a:rPr lang="en-US" sz="2000" dirty="0">
                <a:latin typeface="Times New Roman" panose="02020603050405020304" pitchFamily="18" charset="0"/>
                <a:ea typeface="Calibri" panose="020F0502020204030204" pitchFamily="34" charset="0"/>
                <a:cs typeface="Arial" panose="020B0604020202020204" pitchFamily="34" charset="0"/>
              </a:rPr>
              <a:t>), what are the count of div child nodes? And Why?</a:t>
            </a:r>
            <a:endParaRPr lang="en-US" sz="2000" dirty="0">
              <a:latin typeface="Calibri" panose="020F0502020204030204" pitchFamily="34" charset="0"/>
              <a:ea typeface="Calibri" panose="020F0502020204030204" pitchFamily="34" charset="0"/>
              <a:cs typeface="Arial" panose="020B0604020202020204" pitchFamily="34" charset="0"/>
            </a:endParaRPr>
          </a:p>
          <a:p>
            <a:pPr marL="742950" marR="0" lvl="1" indent="-285750" algn="just">
              <a:lnSpc>
                <a:spcPct val="115000"/>
              </a:lnSpc>
              <a:spcBef>
                <a:spcPts val="1200"/>
              </a:spcBef>
              <a:spcAft>
                <a:spcPts val="1000"/>
              </a:spcAft>
              <a:buFont typeface="+mj-lt"/>
              <a:buAutoNum type="alphaLcPeriod"/>
            </a:pPr>
            <a:r>
              <a:rPr lang="en-US" sz="2000" dirty="0">
                <a:latin typeface="Times New Roman" panose="02020603050405020304" pitchFamily="18" charset="0"/>
                <a:ea typeface="Calibri" panose="020F0502020204030204" pitchFamily="34" charset="0"/>
                <a:cs typeface="Arial" panose="020B0604020202020204" pitchFamily="34" charset="0"/>
              </a:rPr>
              <a:t>Remove the added image (using </a:t>
            </a:r>
            <a:r>
              <a:rPr lang="en-US" sz="2000" dirty="0" err="1">
                <a:latin typeface="Times New Roman" panose="02020603050405020304" pitchFamily="18" charset="0"/>
                <a:ea typeface="Calibri" panose="020F0502020204030204" pitchFamily="34" charset="0"/>
                <a:cs typeface="Arial" panose="020B0604020202020204" pitchFamily="34" charset="0"/>
              </a:rPr>
              <a:t>removeChild</a:t>
            </a:r>
            <a:r>
              <a:rPr lang="en-US" sz="2000" dirty="0">
                <a:latin typeface="Times New Roman" panose="02020603050405020304" pitchFamily="18" charset="0"/>
                <a:ea typeface="Calibri" panose="020F0502020204030204" pitchFamily="34" charset="0"/>
                <a:cs typeface="Arial" panose="020B0604020202020204" pitchFamily="34" charset="0"/>
              </a:rPr>
              <a:t>()).</a:t>
            </a:r>
            <a:endParaRPr lang="en-US" sz="20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8539249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 name="object 45"/>
          <p:cNvPicPr/>
          <p:nvPr/>
        </p:nvPicPr>
        <p:blipFill>
          <a:blip r:embed="rId2" cstate="print"/>
          <a:stretch>
            <a:fillRect/>
          </a:stretch>
        </p:blipFill>
        <p:spPr>
          <a:xfrm>
            <a:off x="428" y="0"/>
            <a:ext cx="12191144" cy="825442"/>
          </a:xfrm>
          <a:prstGeom prst="rect">
            <a:avLst/>
          </a:prstGeom>
        </p:spPr>
      </p:pic>
      <p:sp>
        <p:nvSpPr>
          <p:cNvPr id="46" name="object 46"/>
          <p:cNvSpPr txBox="1">
            <a:spLocks noGrp="1"/>
          </p:cNvSpPr>
          <p:nvPr>
            <p:ph type="title"/>
          </p:nvPr>
        </p:nvSpPr>
        <p:spPr>
          <a:xfrm>
            <a:off x="366274" y="83681"/>
            <a:ext cx="4843177" cy="616785"/>
          </a:xfrm>
          <a:prstGeom prst="rect">
            <a:avLst/>
          </a:prstGeom>
        </p:spPr>
        <p:txBody>
          <a:bodyPr vert="horz" wrap="square" lIns="0" tIns="7316" rIns="0" bIns="0" rtlCol="0">
            <a:spAutoFit/>
          </a:bodyPr>
          <a:lstStyle/>
          <a:p>
            <a:pPr marL="7701">
              <a:spcBef>
                <a:spcPts val="58"/>
              </a:spcBef>
              <a:tabLst>
                <a:tab pos="1309218" algn="l"/>
                <a:tab pos="1946884" algn="l"/>
              </a:tabLst>
            </a:pPr>
            <a:r>
              <a:rPr lang="en-US" dirty="0">
                <a:solidFill>
                  <a:schemeClr val="bg1"/>
                </a:solidFill>
              </a:rPr>
              <a:t>TASKS</a:t>
            </a:r>
            <a:endParaRPr dirty="0">
              <a:solidFill>
                <a:schemeClr val="bg1"/>
              </a:solidFill>
            </a:endParaRPr>
          </a:p>
        </p:txBody>
      </p:sp>
      <p:sp>
        <p:nvSpPr>
          <p:cNvPr id="62" name="Rectangle 3">
            <a:extLst>
              <a:ext uri="{FF2B5EF4-FFF2-40B4-BE49-F238E27FC236}">
                <a16:creationId xmlns:a16="http://schemas.microsoft.com/office/drawing/2014/main" id="{33D61CD0-FB12-8873-EC13-A772FFD8E0FB}"/>
              </a:ext>
            </a:extLst>
          </p:cNvPr>
          <p:cNvSpPr>
            <a:spLocks noChangeArrowheads="1"/>
          </p:cNvSpPr>
          <p:nvPr/>
        </p:nvSpPr>
        <p:spPr bwMode="auto">
          <a:xfrm>
            <a:off x="1052074" y="414331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 name="Rectangle 1">
            <a:extLst>
              <a:ext uri="{FF2B5EF4-FFF2-40B4-BE49-F238E27FC236}">
                <a16:creationId xmlns:a16="http://schemas.microsoft.com/office/drawing/2014/main" id="{8CD1BB93-57BA-410E-B4C1-41518808C204}"/>
              </a:ext>
            </a:extLst>
          </p:cNvPr>
          <p:cNvSpPr/>
          <p:nvPr/>
        </p:nvSpPr>
        <p:spPr>
          <a:xfrm>
            <a:off x="519112" y="1093424"/>
            <a:ext cx="11296651" cy="2189125"/>
          </a:xfrm>
          <a:prstGeom prst="rect">
            <a:avLst/>
          </a:prstGeom>
        </p:spPr>
        <p:txBody>
          <a:bodyPr wrap="square">
            <a:spAutoFit/>
          </a:bodyPr>
          <a:lstStyle/>
          <a:p>
            <a:pPr lvl="0">
              <a:lnSpc>
                <a:spcPct val="115000"/>
              </a:lnSpc>
            </a:pPr>
            <a:r>
              <a:rPr lang="en-US" sz="2400" dirty="0">
                <a:latin typeface="Times New Roman" panose="02020603050405020304" pitchFamily="18" charset="0"/>
                <a:ea typeface="Calibri" panose="020F0502020204030204" pitchFamily="34" charset="0"/>
                <a:cs typeface="Arial" panose="020B0604020202020204" pitchFamily="34" charset="0"/>
              </a:rPr>
              <a:t>2. Create an image like the following one, which has an image, image description text under the text and prev. and next buttons.</a:t>
            </a:r>
            <a:br>
              <a:rPr lang="en-US" sz="2400" dirty="0">
                <a:latin typeface="Times New Roman" panose="02020603050405020304" pitchFamily="18" charset="0"/>
                <a:ea typeface="Calibri" panose="020F0502020204030204" pitchFamily="34" charset="0"/>
                <a:cs typeface="Arial" panose="020B0604020202020204" pitchFamily="34" charset="0"/>
              </a:rPr>
            </a:br>
            <a:r>
              <a:rPr lang="en-US" sz="2400" dirty="0">
                <a:latin typeface="Times New Roman" panose="02020603050405020304" pitchFamily="18" charset="0"/>
                <a:ea typeface="Calibri" panose="020F0502020204030204" pitchFamily="34" charset="0"/>
                <a:cs typeface="Arial" panose="020B0604020202020204" pitchFamily="34" charset="0"/>
              </a:rPr>
              <a:t> (Use array to store images name, and another to store images description) [You may use one associative array, instead of 2 arrays].</a:t>
            </a:r>
            <a:endParaRPr lang="en-US" sz="2400" dirty="0">
              <a:latin typeface="Calibri" panose="020F0502020204030204" pitchFamily="34" charset="0"/>
              <a:ea typeface="Calibri" panose="020F0502020204030204" pitchFamily="34" charset="0"/>
              <a:cs typeface="Arial" panose="020B0604020202020204" pitchFamily="34" charset="0"/>
            </a:endParaRPr>
          </a:p>
          <a:p>
            <a:pPr marL="742950" marR="0" lvl="1" indent="-285750" algn="just">
              <a:lnSpc>
                <a:spcPct val="115000"/>
              </a:lnSpc>
              <a:spcBef>
                <a:spcPts val="0"/>
              </a:spcBef>
              <a:spcAft>
                <a:spcPts val="0"/>
              </a:spcAft>
              <a:buFont typeface="+mj-lt"/>
              <a:buAutoNum type="alphaLcPeriod"/>
            </a:pPr>
            <a:r>
              <a:rPr lang="en-US" sz="2400" dirty="0">
                <a:latin typeface="Times New Roman" panose="02020603050405020304" pitchFamily="18" charset="0"/>
                <a:ea typeface="Calibri" panose="020F0502020204030204" pitchFamily="34" charset="0"/>
                <a:cs typeface="Arial" panose="020B0604020202020204" pitchFamily="34" charset="0"/>
              </a:rPr>
              <a:t>Make next button display the next image, and prev. button display the prev. image.</a:t>
            </a:r>
            <a:endParaRPr lang="en-US" sz="24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3852898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 name="object 45"/>
          <p:cNvPicPr/>
          <p:nvPr/>
        </p:nvPicPr>
        <p:blipFill>
          <a:blip r:embed="rId2" cstate="print"/>
          <a:stretch>
            <a:fillRect/>
          </a:stretch>
        </p:blipFill>
        <p:spPr>
          <a:xfrm>
            <a:off x="428" y="0"/>
            <a:ext cx="12191144" cy="825442"/>
          </a:xfrm>
          <a:prstGeom prst="rect">
            <a:avLst/>
          </a:prstGeom>
        </p:spPr>
      </p:pic>
      <p:sp>
        <p:nvSpPr>
          <p:cNvPr id="46" name="object 46"/>
          <p:cNvSpPr txBox="1">
            <a:spLocks noGrp="1"/>
          </p:cNvSpPr>
          <p:nvPr>
            <p:ph type="title"/>
          </p:nvPr>
        </p:nvSpPr>
        <p:spPr>
          <a:xfrm>
            <a:off x="366274" y="83681"/>
            <a:ext cx="4843177" cy="616785"/>
          </a:xfrm>
          <a:prstGeom prst="rect">
            <a:avLst/>
          </a:prstGeom>
        </p:spPr>
        <p:txBody>
          <a:bodyPr vert="horz" wrap="square" lIns="0" tIns="7316" rIns="0" bIns="0" rtlCol="0">
            <a:spAutoFit/>
          </a:bodyPr>
          <a:lstStyle/>
          <a:p>
            <a:pPr marL="7701">
              <a:spcBef>
                <a:spcPts val="58"/>
              </a:spcBef>
              <a:tabLst>
                <a:tab pos="1309218" algn="l"/>
                <a:tab pos="1946884" algn="l"/>
              </a:tabLst>
            </a:pPr>
            <a:r>
              <a:rPr lang="en-US" dirty="0">
                <a:solidFill>
                  <a:schemeClr val="bg1"/>
                </a:solidFill>
              </a:rPr>
              <a:t>TASKS</a:t>
            </a:r>
            <a:endParaRPr dirty="0">
              <a:solidFill>
                <a:schemeClr val="bg1"/>
              </a:solidFill>
            </a:endParaRPr>
          </a:p>
        </p:txBody>
      </p:sp>
      <p:sp>
        <p:nvSpPr>
          <p:cNvPr id="61" name="Rectangle 2">
            <a:extLst>
              <a:ext uri="{FF2B5EF4-FFF2-40B4-BE49-F238E27FC236}">
                <a16:creationId xmlns:a16="http://schemas.microsoft.com/office/drawing/2014/main" id="{BAE913EF-899D-DD10-E207-E4779AB5163A}"/>
              </a:ext>
            </a:extLst>
          </p:cNvPr>
          <p:cNvSpPr>
            <a:spLocks noChangeArrowheads="1"/>
          </p:cNvSpPr>
          <p:nvPr/>
        </p:nvSpPr>
        <p:spPr bwMode="auto">
          <a:xfrm>
            <a:off x="446747" y="1104318"/>
            <a:ext cx="414557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3. To Do List </a:t>
            </a:r>
            <a:r>
              <a:rPr kumimoji="0" lang="en-US" altLang="en-US" sz="1800" b="0" i="0" u="none" strike="noStrike" cap="none" normalizeH="0" baseline="0" dirty="0">
                <a:ln>
                  <a:noFill/>
                </a:ln>
                <a:solidFill>
                  <a:schemeClr val="tx1"/>
                </a:solidFill>
                <a:effectLst/>
                <a:latin typeface="Arial" panose="020B0604020202020204" pitchFamily="34" charset="0"/>
                <a:sym typeface="Wingdings" panose="05000000000000000000" pitchFamily="2" charset="2"/>
              </a:rPr>
              <a:t> from </a:t>
            </a:r>
            <a:r>
              <a:rPr kumimoji="0" lang="en-US" altLang="en-US" sz="1800" b="0" i="0" u="none" strike="noStrike" cap="none" normalizeH="0" baseline="0" dirty="0" err="1">
                <a:ln>
                  <a:noFill/>
                </a:ln>
                <a:solidFill>
                  <a:schemeClr val="tx1"/>
                </a:solidFill>
                <a:effectLst/>
                <a:latin typeface="Arial" panose="020B0604020202020204" pitchFamily="34" charset="0"/>
                <a:sym typeface="Wingdings" panose="05000000000000000000" pitchFamily="2" charset="2"/>
              </a:rPr>
              <a:t>js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2" name="Rectangle 3">
            <a:extLst>
              <a:ext uri="{FF2B5EF4-FFF2-40B4-BE49-F238E27FC236}">
                <a16:creationId xmlns:a16="http://schemas.microsoft.com/office/drawing/2014/main" id="{33D61CD0-FB12-8873-EC13-A772FFD8E0FB}"/>
              </a:ext>
            </a:extLst>
          </p:cNvPr>
          <p:cNvSpPr>
            <a:spLocks noChangeArrowheads="1"/>
          </p:cNvSpPr>
          <p:nvPr/>
        </p:nvSpPr>
        <p:spPr bwMode="auto">
          <a:xfrm>
            <a:off x="1052074" y="414331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3" name="Picture 2">
            <a:extLst>
              <a:ext uri="{FF2B5EF4-FFF2-40B4-BE49-F238E27FC236}">
                <a16:creationId xmlns:a16="http://schemas.microsoft.com/office/drawing/2014/main" id="{D213792A-6D66-8963-4C5E-05736FFDBC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97016" y="1765740"/>
            <a:ext cx="8397968" cy="3730085"/>
          </a:xfrm>
          <a:prstGeom prst="rect">
            <a:avLst/>
          </a:prstGeom>
        </p:spPr>
      </p:pic>
    </p:spTree>
    <p:extLst>
      <p:ext uri="{BB962C8B-B14F-4D97-AF65-F5344CB8AC3E}">
        <p14:creationId xmlns:p14="http://schemas.microsoft.com/office/powerpoint/2010/main" val="18680542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 name="object 45"/>
          <p:cNvPicPr/>
          <p:nvPr/>
        </p:nvPicPr>
        <p:blipFill>
          <a:blip r:embed="rId2" cstate="print"/>
          <a:stretch>
            <a:fillRect/>
          </a:stretch>
        </p:blipFill>
        <p:spPr>
          <a:xfrm>
            <a:off x="428" y="0"/>
            <a:ext cx="12191144" cy="825442"/>
          </a:xfrm>
          <a:prstGeom prst="rect">
            <a:avLst/>
          </a:prstGeom>
        </p:spPr>
      </p:pic>
      <p:sp>
        <p:nvSpPr>
          <p:cNvPr id="46" name="object 46"/>
          <p:cNvSpPr txBox="1">
            <a:spLocks noGrp="1"/>
          </p:cNvSpPr>
          <p:nvPr>
            <p:ph type="title"/>
          </p:nvPr>
        </p:nvSpPr>
        <p:spPr>
          <a:xfrm>
            <a:off x="366274" y="83681"/>
            <a:ext cx="4843177" cy="616785"/>
          </a:xfrm>
          <a:prstGeom prst="rect">
            <a:avLst/>
          </a:prstGeom>
        </p:spPr>
        <p:txBody>
          <a:bodyPr vert="horz" wrap="square" lIns="0" tIns="7316" rIns="0" bIns="0" rtlCol="0">
            <a:spAutoFit/>
          </a:bodyPr>
          <a:lstStyle/>
          <a:p>
            <a:pPr marL="7701">
              <a:spcBef>
                <a:spcPts val="58"/>
              </a:spcBef>
              <a:tabLst>
                <a:tab pos="1309218" algn="l"/>
                <a:tab pos="1946884" algn="l"/>
              </a:tabLst>
            </a:pPr>
            <a:r>
              <a:rPr lang="en-US" dirty="0">
                <a:solidFill>
                  <a:schemeClr val="bg1"/>
                </a:solidFill>
              </a:rPr>
              <a:t>TASKS</a:t>
            </a:r>
            <a:endParaRPr dirty="0">
              <a:solidFill>
                <a:schemeClr val="bg1"/>
              </a:solidFill>
            </a:endParaRPr>
          </a:p>
        </p:txBody>
      </p:sp>
      <p:sp>
        <p:nvSpPr>
          <p:cNvPr id="62" name="Rectangle 3">
            <a:extLst>
              <a:ext uri="{FF2B5EF4-FFF2-40B4-BE49-F238E27FC236}">
                <a16:creationId xmlns:a16="http://schemas.microsoft.com/office/drawing/2014/main" id="{33D61CD0-FB12-8873-EC13-A772FFD8E0FB}"/>
              </a:ext>
            </a:extLst>
          </p:cNvPr>
          <p:cNvSpPr>
            <a:spLocks noChangeArrowheads="1"/>
          </p:cNvSpPr>
          <p:nvPr/>
        </p:nvSpPr>
        <p:spPr bwMode="auto">
          <a:xfrm>
            <a:off x="1052074" y="414331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4" name="Picture 3">
            <a:extLst>
              <a:ext uri="{FF2B5EF4-FFF2-40B4-BE49-F238E27FC236}">
                <a16:creationId xmlns:a16="http://schemas.microsoft.com/office/drawing/2014/main" id="{F4F8D0CF-FF1E-4984-A528-B3ECCBE280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825441"/>
            <a:ext cx="12191144" cy="6032553"/>
          </a:xfrm>
          <a:prstGeom prst="rect">
            <a:avLst/>
          </a:prstGeom>
        </p:spPr>
      </p:pic>
    </p:spTree>
    <p:extLst>
      <p:ext uri="{BB962C8B-B14F-4D97-AF65-F5344CB8AC3E}">
        <p14:creationId xmlns:p14="http://schemas.microsoft.com/office/powerpoint/2010/main" val="25024802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 name="object 45"/>
          <p:cNvPicPr/>
          <p:nvPr/>
        </p:nvPicPr>
        <p:blipFill>
          <a:blip r:embed="rId2" cstate="print"/>
          <a:stretch>
            <a:fillRect/>
          </a:stretch>
        </p:blipFill>
        <p:spPr>
          <a:xfrm>
            <a:off x="428" y="0"/>
            <a:ext cx="12191144" cy="825442"/>
          </a:xfrm>
          <a:prstGeom prst="rect">
            <a:avLst/>
          </a:prstGeom>
        </p:spPr>
      </p:pic>
      <p:sp>
        <p:nvSpPr>
          <p:cNvPr id="46" name="object 46"/>
          <p:cNvSpPr txBox="1">
            <a:spLocks noGrp="1"/>
          </p:cNvSpPr>
          <p:nvPr>
            <p:ph type="title"/>
          </p:nvPr>
        </p:nvSpPr>
        <p:spPr>
          <a:xfrm>
            <a:off x="366274" y="83681"/>
            <a:ext cx="4843177" cy="616785"/>
          </a:xfrm>
          <a:prstGeom prst="rect">
            <a:avLst/>
          </a:prstGeom>
        </p:spPr>
        <p:txBody>
          <a:bodyPr vert="horz" wrap="square" lIns="0" tIns="7316" rIns="0" bIns="0" rtlCol="0">
            <a:spAutoFit/>
          </a:bodyPr>
          <a:lstStyle/>
          <a:p>
            <a:pPr marL="7701">
              <a:spcBef>
                <a:spcPts val="58"/>
              </a:spcBef>
              <a:tabLst>
                <a:tab pos="1309218" algn="l"/>
                <a:tab pos="1946884" algn="l"/>
              </a:tabLst>
            </a:pPr>
            <a:r>
              <a:rPr lang="en-US" dirty="0">
                <a:solidFill>
                  <a:schemeClr val="bg1"/>
                </a:solidFill>
              </a:rPr>
              <a:t>TASKS</a:t>
            </a:r>
            <a:endParaRPr dirty="0">
              <a:solidFill>
                <a:schemeClr val="bg1"/>
              </a:solidFill>
            </a:endParaRPr>
          </a:p>
        </p:txBody>
      </p:sp>
      <p:pic>
        <p:nvPicPr>
          <p:cNvPr id="3" name="Picture 2">
            <a:extLst>
              <a:ext uri="{FF2B5EF4-FFF2-40B4-BE49-F238E27FC236}">
                <a16:creationId xmlns:a16="http://schemas.microsoft.com/office/drawing/2014/main" id="{BD6592A4-B16A-4B15-92ED-095E102F3C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14850" y="854017"/>
            <a:ext cx="7676293" cy="6032558"/>
          </a:xfrm>
          <a:prstGeom prst="rect">
            <a:avLst/>
          </a:prstGeom>
        </p:spPr>
      </p:pic>
    </p:spTree>
    <p:extLst>
      <p:ext uri="{BB962C8B-B14F-4D97-AF65-F5344CB8AC3E}">
        <p14:creationId xmlns:p14="http://schemas.microsoft.com/office/powerpoint/2010/main" val="30100872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 name="object 45"/>
          <p:cNvPicPr/>
          <p:nvPr/>
        </p:nvPicPr>
        <p:blipFill>
          <a:blip r:embed="rId2" cstate="print"/>
          <a:stretch>
            <a:fillRect/>
          </a:stretch>
        </p:blipFill>
        <p:spPr>
          <a:xfrm>
            <a:off x="428" y="0"/>
            <a:ext cx="12191144" cy="825442"/>
          </a:xfrm>
          <a:prstGeom prst="rect">
            <a:avLst/>
          </a:prstGeom>
        </p:spPr>
      </p:pic>
      <p:sp>
        <p:nvSpPr>
          <p:cNvPr id="46" name="object 46"/>
          <p:cNvSpPr txBox="1">
            <a:spLocks noGrp="1"/>
          </p:cNvSpPr>
          <p:nvPr>
            <p:ph type="title"/>
          </p:nvPr>
        </p:nvSpPr>
        <p:spPr>
          <a:xfrm>
            <a:off x="366274" y="83681"/>
            <a:ext cx="4843177" cy="616785"/>
          </a:xfrm>
          <a:prstGeom prst="rect">
            <a:avLst/>
          </a:prstGeom>
        </p:spPr>
        <p:txBody>
          <a:bodyPr vert="horz" wrap="square" lIns="0" tIns="7316" rIns="0" bIns="0" rtlCol="0">
            <a:spAutoFit/>
          </a:bodyPr>
          <a:lstStyle/>
          <a:p>
            <a:pPr marL="7701">
              <a:spcBef>
                <a:spcPts val="58"/>
              </a:spcBef>
              <a:tabLst>
                <a:tab pos="1309218" algn="l"/>
                <a:tab pos="1946884" algn="l"/>
              </a:tabLst>
            </a:pPr>
            <a:r>
              <a:rPr lang="en-US" dirty="0">
                <a:solidFill>
                  <a:schemeClr val="bg1"/>
                </a:solidFill>
              </a:rPr>
              <a:t>TASKS</a:t>
            </a:r>
            <a:endParaRPr dirty="0">
              <a:solidFill>
                <a:schemeClr val="bg1"/>
              </a:solidFill>
            </a:endParaRPr>
          </a:p>
        </p:txBody>
      </p:sp>
      <p:sp>
        <p:nvSpPr>
          <p:cNvPr id="62" name="Rectangle 3">
            <a:extLst>
              <a:ext uri="{FF2B5EF4-FFF2-40B4-BE49-F238E27FC236}">
                <a16:creationId xmlns:a16="http://schemas.microsoft.com/office/drawing/2014/main" id="{33D61CD0-FB12-8873-EC13-A772FFD8E0FB}"/>
              </a:ext>
            </a:extLst>
          </p:cNvPr>
          <p:cNvSpPr>
            <a:spLocks noChangeArrowheads="1"/>
          </p:cNvSpPr>
          <p:nvPr/>
        </p:nvSpPr>
        <p:spPr bwMode="auto">
          <a:xfrm>
            <a:off x="1052074" y="414331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4" name="Picture 3">
            <a:extLst>
              <a:ext uri="{FF2B5EF4-FFF2-40B4-BE49-F238E27FC236}">
                <a16:creationId xmlns:a16="http://schemas.microsoft.com/office/drawing/2014/main" id="{08BAE93A-8EEC-42DC-9297-60BB127F13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784147"/>
            <a:ext cx="12148281" cy="4071554"/>
          </a:xfrm>
          <a:prstGeom prst="rect">
            <a:avLst/>
          </a:prstGeom>
        </p:spPr>
      </p:pic>
    </p:spTree>
    <p:extLst>
      <p:ext uri="{BB962C8B-B14F-4D97-AF65-F5344CB8AC3E}">
        <p14:creationId xmlns:p14="http://schemas.microsoft.com/office/powerpoint/2010/main" val="5302244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 name="object 45"/>
          <p:cNvPicPr/>
          <p:nvPr/>
        </p:nvPicPr>
        <p:blipFill>
          <a:blip r:embed="rId2" cstate="print"/>
          <a:stretch>
            <a:fillRect/>
          </a:stretch>
        </p:blipFill>
        <p:spPr>
          <a:xfrm>
            <a:off x="428" y="0"/>
            <a:ext cx="12191144" cy="825442"/>
          </a:xfrm>
          <a:prstGeom prst="rect">
            <a:avLst/>
          </a:prstGeom>
        </p:spPr>
      </p:pic>
      <p:sp>
        <p:nvSpPr>
          <p:cNvPr id="46" name="object 46"/>
          <p:cNvSpPr txBox="1">
            <a:spLocks noGrp="1"/>
          </p:cNvSpPr>
          <p:nvPr>
            <p:ph type="title"/>
          </p:nvPr>
        </p:nvSpPr>
        <p:spPr>
          <a:xfrm>
            <a:off x="366274" y="83681"/>
            <a:ext cx="4843177" cy="469373"/>
          </a:xfrm>
          <a:prstGeom prst="rect">
            <a:avLst/>
          </a:prstGeom>
        </p:spPr>
        <p:txBody>
          <a:bodyPr vert="horz" wrap="square" lIns="0" tIns="7316" rIns="0" bIns="0" rtlCol="0">
            <a:spAutoFit/>
          </a:bodyPr>
          <a:lstStyle/>
          <a:p>
            <a:pPr marL="7701">
              <a:spcBef>
                <a:spcPts val="58"/>
              </a:spcBef>
              <a:tabLst>
                <a:tab pos="1309218" algn="l"/>
                <a:tab pos="1946884" algn="l"/>
              </a:tabLst>
            </a:pPr>
            <a:r>
              <a:rPr lang="en-US" dirty="0">
                <a:solidFill>
                  <a:schemeClr val="bg1"/>
                </a:solidFill>
              </a:rPr>
              <a:t>TASKS</a:t>
            </a:r>
            <a:endParaRPr dirty="0">
              <a:solidFill>
                <a:srgbClr val="FF0000"/>
              </a:solidFill>
            </a:endParaRPr>
          </a:p>
        </p:txBody>
      </p:sp>
      <p:sp>
        <p:nvSpPr>
          <p:cNvPr id="62" name="Rectangle 3">
            <a:extLst>
              <a:ext uri="{FF2B5EF4-FFF2-40B4-BE49-F238E27FC236}">
                <a16:creationId xmlns:a16="http://schemas.microsoft.com/office/drawing/2014/main" id="{33D61CD0-FB12-8873-EC13-A772FFD8E0FB}"/>
              </a:ext>
            </a:extLst>
          </p:cNvPr>
          <p:cNvSpPr>
            <a:spLocks noChangeArrowheads="1"/>
          </p:cNvSpPr>
          <p:nvPr/>
        </p:nvSpPr>
        <p:spPr bwMode="auto">
          <a:xfrm>
            <a:off x="1052074" y="414331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 name="Rectangle 2">
            <a:extLst>
              <a:ext uri="{FF2B5EF4-FFF2-40B4-BE49-F238E27FC236}">
                <a16:creationId xmlns:a16="http://schemas.microsoft.com/office/drawing/2014/main" id="{9B607AD6-9D65-4DDB-88BA-8634E6EDAE8C}"/>
              </a:ext>
            </a:extLst>
          </p:cNvPr>
          <p:cNvSpPr/>
          <p:nvPr/>
        </p:nvSpPr>
        <p:spPr>
          <a:xfrm>
            <a:off x="176212" y="909123"/>
            <a:ext cx="11725276" cy="5775107"/>
          </a:xfrm>
          <a:prstGeom prst="rect">
            <a:avLst/>
          </a:prstGeom>
        </p:spPr>
        <p:txBody>
          <a:bodyPr wrap="square">
            <a:spAutoFit/>
          </a:bodyPr>
          <a:lstStyle/>
          <a:p>
            <a:pPr lvl="0" algn="just">
              <a:lnSpc>
                <a:spcPct val="115000"/>
              </a:lnSpc>
            </a:pPr>
            <a:r>
              <a:rPr lang="en-US" sz="1400" dirty="0">
                <a:latin typeface="Times New Roman" panose="02020603050405020304" pitchFamily="18" charset="0"/>
                <a:ea typeface="Calibri" panose="020F0502020204030204" pitchFamily="34" charset="0"/>
                <a:cs typeface="Arial" panose="020B0604020202020204" pitchFamily="34" charset="0"/>
              </a:rPr>
              <a:t>3. Make a registration form (you can re-use the registration form you did before) as the following (Use HTML 5 new input types and validation attributes): </a:t>
            </a:r>
            <a:endParaRPr lang="en-US" sz="1400" dirty="0">
              <a:latin typeface="Calibri" panose="020F0502020204030204" pitchFamily="34" charset="0"/>
              <a:ea typeface="Calibri" panose="020F0502020204030204" pitchFamily="34" charset="0"/>
              <a:cs typeface="Arial" panose="020B0604020202020204" pitchFamily="34" charset="0"/>
            </a:endParaRPr>
          </a:p>
          <a:p>
            <a:pPr marL="742950" marR="0" lvl="1" indent="-285750" algn="just">
              <a:lnSpc>
                <a:spcPct val="115000"/>
              </a:lnSpc>
              <a:spcBef>
                <a:spcPts val="0"/>
              </a:spcBef>
              <a:spcAft>
                <a:spcPts val="0"/>
              </a:spcAft>
              <a:buFont typeface="+mj-lt"/>
              <a:buAutoNum type="alphaLcPeriod"/>
            </a:pPr>
            <a:r>
              <a:rPr lang="en-US" sz="1400" dirty="0">
                <a:latin typeface="Times New Roman" panose="02020603050405020304" pitchFamily="18" charset="0"/>
                <a:ea typeface="Calibri" panose="020F0502020204030204" pitchFamily="34" charset="0"/>
                <a:cs typeface="Arial" panose="020B0604020202020204" pitchFamily="34" charset="0"/>
              </a:rPr>
              <a:t>Form fields: </a:t>
            </a:r>
            <a:endParaRPr lang="en-US" sz="1400" dirty="0">
              <a:latin typeface="Calibri" panose="020F0502020204030204" pitchFamily="34" charset="0"/>
              <a:ea typeface="Calibri" panose="020F0502020204030204" pitchFamily="34" charset="0"/>
              <a:cs typeface="Arial" panose="020B0604020202020204" pitchFamily="34" charset="0"/>
            </a:endParaRPr>
          </a:p>
          <a:p>
            <a:pPr marL="1143000" marR="0" lvl="2" indent="-228600" algn="just">
              <a:lnSpc>
                <a:spcPct val="115000"/>
              </a:lnSpc>
              <a:spcBef>
                <a:spcPts val="0"/>
              </a:spcBef>
              <a:spcAft>
                <a:spcPts val="0"/>
              </a:spcAft>
              <a:buFont typeface="Symbol" panose="05050102010706020507" pitchFamily="18" charset="2"/>
              <a:buChar char=""/>
            </a:pPr>
            <a:r>
              <a:rPr lang="en-US" sz="1400" dirty="0">
                <a:latin typeface="Times New Roman" panose="02020603050405020304" pitchFamily="18" charset="0"/>
                <a:ea typeface="Calibri" panose="020F0502020204030204" pitchFamily="34" charset="0"/>
                <a:cs typeface="Arial" panose="020B0604020202020204" pitchFamily="34" charset="0"/>
              </a:rPr>
              <a:t>Full Name (Required)</a:t>
            </a:r>
            <a:endParaRPr lang="en-US" sz="1400" dirty="0">
              <a:latin typeface="Calibri" panose="020F0502020204030204" pitchFamily="34" charset="0"/>
              <a:ea typeface="Calibri" panose="020F0502020204030204" pitchFamily="34" charset="0"/>
              <a:cs typeface="Arial" panose="020B0604020202020204" pitchFamily="34" charset="0"/>
            </a:endParaRPr>
          </a:p>
          <a:p>
            <a:pPr marL="1143000" marR="0" lvl="2" indent="-228600" algn="just">
              <a:lnSpc>
                <a:spcPct val="115000"/>
              </a:lnSpc>
              <a:spcBef>
                <a:spcPts val="0"/>
              </a:spcBef>
              <a:spcAft>
                <a:spcPts val="0"/>
              </a:spcAft>
              <a:buFont typeface="Symbol" panose="05050102010706020507" pitchFamily="18" charset="2"/>
              <a:buChar char=""/>
            </a:pPr>
            <a:r>
              <a:rPr lang="en-US" sz="1400" dirty="0">
                <a:latin typeface="Times New Roman" panose="02020603050405020304" pitchFamily="18" charset="0"/>
                <a:ea typeface="Calibri" panose="020F0502020204030204" pitchFamily="34" charset="0"/>
                <a:cs typeface="Arial" panose="020B0604020202020204" pitchFamily="34" charset="0"/>
              </a:rPr>
              <a:t>Email (Required, input type: email)</a:t>
            </a:r>
            <a:endParaRPr lang="en-US" sz="1400" dirty="0">
              <a:latin typeface="Calibri" panose="020F0502020204030204" pitchFamily="34" charset="0"/>
              <a:ea typeface="Calibri" panose="020F0502020204030204" pitchFamily="34" charset="0"/>
              <a:cs typeface="Arial" panose="020B0604020202020204" pitchFamily="34" charset="0"/>
            </a:endParaRPr>
          </a:p>
          <a:p>
            <a:pPr marL="1143000" marR="0" lvl="2" indent="-228600" algn="just">
              <a:lnSpc>
                <a:spcPct val="115000"/>
              </a:lnSpc>
              <a:spcBef>
                <a:spcPts val="0"/>
              </a:spcBef>
              <a:spcAft>
                <a:spcPts val="0"/>
              </a:spcAft>
              <a:buFont typeface="Symbol" panose="05050102010706020507" pitchFamily="18" charset="2"/>
              <a:buChar char=""/>
            </a:pPr>
            <a:r>
              <a:rPr lang="en-US" sz="1400" dirty="0">
                <a:latin typeface="Times New Roman" panose="02020603050405020304" pitchFamily="18" charset="0"/>
                <a:ea typeface="Calibri" panose="020F0502020204030204" pitchFamily="34" charset="0"/>
                <a:cs typeface="Arial" panose="020B0604020202020204" pitchFamily="34" charset="0"/>
              </a:rPr>
              <a:t>City (Drop-down list filled with some cities)</a:t>
            </a:r>
            <a:endParaRPr lang="en-US" sz="1400" dirty="0">
              <a:latin typeface="Calibri" panose="020F0502020204030204" pitchFamily="34" charset="0"/>
              <a:ea typeface="Calibri" panose="020F0502020204030204" pitchFamily="34" charset="0"/>
              <a:cs typeface="Arial" panose="020B0604020202020204" pitchFamily="34" charset="0"/>
            </a:endParaRPr>
          </a:p>
          <a:p>
            <a:pPr marL="1143000" marR="0" lvl="2" indent="-228600" algn="just">
              <a:lnSpc>
                <a:spcPct val="115000"/>
              </a:lnSpc>
              <a:spcBef>
                <a:spcPts val="0"/>
              </a:spcBef>
              <a:spcAft>
                <a:spcPts val="0"/>
              </a:spcAft>
              <a:buFont typeface="Symbol" panose="05050102010706020507" pitchFamily="18" charset="2"/>
              <a:buChar char=""/>
            </a:pPr>
            <a:r>
              <a:rPr lang="en-US" sz="1400" dirty="0">
                <a:latin typeface="Times New Roman" panose="02020603050405020304" pitchFamily="18" charset="0"/>
                <a:ea typeface="Calibri" panose="020F0502020204030204" pitchFamily="34" charset="0"/>
                <a:cs typeface="Arial" panose="020B0604020202020204" pitchFamily="34" charset="0"/>
              </a:rPr>
              <a:t>Password</a:t>
            </a:r>
            <a:endParaRPr lang="en-US" sz="1400" dirty="0">
              <a:latin typeface="Calibri" panose="020F0502020204030204" pitchFamily="34" charset="0"/>
              <a:ea typeface="Calibri" panose="020F0502020204030204" pitchFamily="34" charset="0"/>
              <a:cs typeface="Arial" panose="020B0604020202020204" pitchFamily="34" charset="0"/>
            </a:endParaRPr>
          </a:p>
          <a:p>
            <a:pPr marL="1143000" marR="0" lvl="2" indent="-228600" algn="just">
              <a:lnSpc>
                <a:spcPct val="115000"/>
              </a:lnSpc>
              <a:spcBef>
                <a:spcPts val="0"/>
              </a:spcBef>
              <a:spcAft>
                <a:spcPts val="0"/>
              </a:spcAft>
              <a:buFont typeface="Symbol" panose="05050102010706020507" pitchFamily="18" charset="2"/>
              <a:buChar char=""/>
            </a:pPr>
            <a:r>
              <a:rPr lang="en-US" sz="1400" dirty="0">
                <a:latin typeface="Times New Roman" panose="02020603050405020304" pitchFamily="18" charset="0"/>
                <a:ea typeface="Calibri" panose="020F0502020204030204" pitchFamily="34" charset="0"/>
                <a:cs typeface="Arial" panose="020B0604020202020204" pitchFamily="34" charset="0"/>
              </a:rPr>
              <a:t>Repeat password.</a:t>
            </a:r>
            <a:endParaRPr lang="en-US" sz="1400" dirty="0">
              <a:latin typeface="Calibri" panose="020F0502020204030204" pitchFamily="34" charset="0"/>
              <a:ea typeface="Calibri" panose="020F0502020204030204" pitchFamily="34" charset="0"/>
              <a:cs typeface="Arial" panose="020B0604020202020204" pitchFamily="34" charset="0"/>
            </a:endParaRPr>
          </a:p>
          <a:p>
            <a:pPr marL="1143000" marR="0" lvl="2" indent="-228600" algn="just">
              <a:lnSpc>
                <a:spcPct val="115000"/>
              </a:lnSpc>
              <a:spcBef>
                <a:spcPts val="0"/>
              </a:spcBef>
              <a:spcAft>
                <a:spcPts val="0"/>
              </a:spcAft>
              <a:buFont typeface="Symbol" panose="05050102010706020507" pitchFamily="18" charset="2"/>
              <a:buChar char=""/>
            </a:pPr>
            <a:r>
              <a:rPr lang="en-US" sz="1400" dirty="0">
                <a:latin typeface="Times New Roman" panose="02020603050405020304" pitchFamily="18" charset="0"/>
                <a:ea typeface="Calibri" panose="020F0502020204030204" pitchFamily="34" charset="0"/>
                <a:cs typeface="Arial" panose="020B0604020202020204" pitchFamily="34" charset="0"/>
              </a:rPr>
              <a:t>“I accept the terms and conditions” checkbox.</a:t>
            </a:r>
            <a:endParaRPr lang="en-US" sz="1400" dirty="0">
              <a:latin typeface="Calibri" panose="020F0502020204030204" pitchFamily="34" charset="0"/>
              <a:ea typeface="Calibri" panose="020F0502020204030204" pitchFamily="34" charset="0"/>
              <a:cs typeface="Arial" panose="020B0604020202020204" pitchFamily="34" charset="0"/>
            </a:endParaRPr>
          </a:p>
          <a:p>
            <a:pPr marL="1143000" marR="0" lvl="2" indent="-228600" algn="just">
              <a:lnSpc>
                <a:spcPct val="115000"/>
              </a:lnSpc>
              <a:spcBef>
                <a:spcPts val="0"/>
              </a:spcBef>
              <a:spcAft>
                <a:spcPts val="0"/>
              </a:spcAft>
              <a:buFont typeface="Symbol" panose="05050102010706020507" pitchFamily="18" charset="2"/>
              <a:buChar char=""/>
            </a:pPr>
            <a:r>
              <a:rPr lang="en-US" sz="1400" dirty="0">
                <a:latin typeface="Times New Roman" panose="02020603050405020304" pitchFamily="18" charset="0"/>
                <a:ea typeface="Calibri" panose="020F0502020204030204" pitchFamily="34" charset="0"/>
                <a:cs typeface="Arial" panose="020B0604020202020204" pitchFamily="34" charset="0"/>
              </a:rPr>
              <a:t>Register button, which redirects to another page saying: “Thank you, </a:t>
            </a:r>
            <a:r>
              <a:rPr lang="en-US" sz="1400" i="1" dirty="0">
                <a:solidFill>
                  <a:srgbClr val="7030A0"/>
                </a:solidFill>
                <a:latin typeface="Times New Roman" panose="02020603050405020304" pitchFamily="18" charset="0"/>
                <a:ea typeface="Calibri" panose="020F0502020204030204" pitchFamily="34" charset="0"/>
                <a:cs typeface="Arial" panose="020B0604020202020204" pitchFamily="34" charset="0"/>
              </a:rPr>
              <a:t>Full Name</a:t>
            </a:r>
            <a:r>
              <a:rPr lang="en-US" sz="1400" dirty="0">
                <a:latin typeface="Times New Roman" panose="02020603050405020304" pitchFamily="18" charset="0"/>
                <a:ea typeface="Calibri" panose="020F0502020204030204" pitchFamily="34" charset="0"/>
                <a:cs typeface="Arial" panose="020B0604020202020204" pitchFamily="34" charset="0"/>
              </a:rPr>
              <a:t> for registering in our website”.</a:t>
            </a:r>
            <a:endParaRPr lang="en-US" sz="1400" dirty="0">
              <a:latin typeface="Calibri" panose="020F0502020204030204" pitchFamily="34" charset="0"/>
              <a:ea typeface="Calibri" panose="020F0502020204030204" pitchFamily="34" charset="0"/>
              <a:cs typeface="Arial" panose="020B0604020202020204" pitchFamily="34" charset="0"/>
            </a:endParaRPr>
          </a:p>
          <a:p>
            <a:pPr marL="742950" marR="0" lvl="1" indent="-285750" algn="just">
              <a:lnSpc>
                <a:spcPct val="115000"/>
              </a:lnSpc>
              <a:spcBef>
                <a:spcPts val="0"/>
              </a:spcBef>
              <a:spcAft>
                <a:spcPts val="0"/>
              </a:spcAft>
              <a:buFont typeface="+mj-lt"/>
              <a:buAutoNum type="alphaLcPeriod"/>
            </a:pPr>
            <a:r>
              <a:rPr lang="en-US" sz="1400" dirty="0">
                <a:latin typeface="Times New Roman" panose="02020603050405020304" pitchFamily="18" charset="0"/>
                <a:ea typeface="Calibri" panose="020F0502020204030204" pitchFamily="34" charset="0"/>
                <a:cs typeface="Arial" panose="020B0604020202020204" pitchFamily="34" charset="0"/>
              </a:rPr>
              <a:t>Make full name text has default text “Enter your Name:” [use placeholder attribute].</a:t>
            </a:r>
            <a:endParaRPr lang="en-US" sz="1400" dirty="0">
              <a:latin typeface="Calibri" panose="020F0502020204030204" pitchFamily="34" charset="0"/>
              <a:ea typeface="Calibri" panose="020F0502020204030204" pitchFamily="34" charset="0"/>
              <a:cs typeface="Arial" panose="020B0604020202020204" pitchFamily="34" charset="0"/>
            </a:endParaRPr>
          </a:p>
          <a:p>
            <a:pPr marL="742950" marR="0" lvl="1" indent="-285750" algn="just">
              <a:lnSpc>
                <a:spcPct val="115000"/>
              </a:lnSpc>
              <a:spcBef>
                <a:spcPts val="0"/>
              </a:spcBef>
              <a:spcAft>
                <a:spcPts val="0"/>
              </a:spcAft>
              <a:buFont typeface="+mj-lt"/>
              <a:buAutoNum type="alphaLcPeriod"/>
            </a:pPr>
            <a:r>
              <a:rPr lang="en-US" sz="1400" dirty="0">
                <a:latin typeface="Times New Roman" panose="02020603050405020304" pitchFamily="18" charset="0"/>
                <a:ea typeface="Calibri" panose="020F0502020204030204" pitchFamily="34" charset="0"/>
                <a:cs typeface="Arial" panose="020B0604020202020204" pitchFamily="34" charset="0"/>
              </a:rPr>
              <a:t>When the user focus in full name text, show blue border for the input (use </a:t>
            </a:r>
            <a:r>
              <a:rPr lang="en-US" sz="1400" dirty="0" err="1">
                <a:latin typeface="Times New Roman" panose="02020603050405020304" pitchFamily="18" charset="0"/>
                <a:ea typeface="Calibri" panose="020F0502020204030204" pitchFamily="34" charset="0"/>
                <a:cs typeface="Arial" panose="020B0604020202020204" pitchFamily="34" charset="0"/>
              </a:rPr>
              <a:t>element.style.border</a:t>
            </a:r>
            <a:r>
              <a:rPr lang="en-US" sz="1400" dirty="0">
                <a:latin typeface="Times New Roman" panose="02020603050405020304" pitchFamily="18" charset="0"/>
                <a:ea typeface="Calibri" panose="020F0502020204030204" pitchFamily="34" charset="0"/>
                <a:cs typeface="Arial" panose="020B0604020202020204" pitchFamily="34" charset="0"/>
              </a:rPr>
              <a:t>=”solid 1px blue”), and remove the border when the input loses the focus.</a:t>
            </a:r>
            <a:endParaRPr lang="en-US" sz="1400" dirty="0">
              <a:latin typeface="Calibri" panose="020F0502020204030204" pitchFamily="34" charset="0"/>
              <a:ea typeface="Calibri" panose="020F0502020204030204" pitchFamily="34" charset="0"/>
              <a:cs typeface="Arial" panose="020B0604020202020204" pitchFamily="34" charset="0"/>
            </a:endParaRPr>
          </a:p>
          <a:p>
            <a:pPr marL="742950" marR="0" lvl="1" indent="-285750" algn="just">
              <a:lnSpc>
                <a:spcPct val="115000"/>
              </a:lnSpc>
              <a:spcBef>
                <a:spcPts val="0"/>
              </a:spcBef>
              <a:spcAft>
                <a:spcPts val="0"/>
              </a:spcAft>
              <a:buFont typeface="+mj-lt"/>
              <a:buAutoNum type="alphaLcPeriod"/>
            </a:pPr>
            <a:r>
              <a:rPr lang="en-US" sz="1400" dirty="0">
                <a:latin typeface="Times New Roman" panose="02020603050405020304" pitchFamily="18" charset="0"/>
                <a:ea typeface="Calibri" panose="020F0502020204030204" pitchFamily="34" charset="0"/>
                <a:cs typeface="Arial" panose="020B0604020202020204" pitchFamily="34" charset="0"/>
              </a:rPr>
              <a:t>After user finish writing his full name and leaves the text box (lost focus), if full name wasn't in correct format (not empty string and more than 3 letters), show text next to textbox saying “invalid name”, and focus the full name textbox, and select all text on it, else if full name was in correct format hide the text next to textbox.</a:t>
            </a:r>
            <a:endParaRPr lang="en-US" sz="1400" dirty="0">
              <a:latin typeface="Calibri" panose="020F0502020204030204" pitchFamily="34" charset="0"/>
              <a:ea typeface="Calibri" panose="020F0502020204030204" pitchFamily="34" charset="0"/>
              <a:cs typeface="Arial" panose="020B0604020202020204" pitchFamily="34" charset="0"/>
            </a:endParaRPr>
          </a:p>
          <a:p>
            <a:pPr marL="742950" marR="0" lvl="1" indent="-285750" algn="just">
              <a:lnSpc>
                <a:spcPct val="115000"/>
              </a:lnSpc>
              <a:spcBef>
                <a:spcPts val="0"/>
              </a:spcBef>
              <a:spcAft>
                <a:spcPts val="0"/>
              </a:spcAft>
              <a:buFont typeface="+mj-lt"/>
              <a:buAutoNum type="alphaLcPeriod"/>
            </a:pPr>
            <a:r>
              <a:rPr lang="en-US" sz="1400" dirty="0">
                <a:latin typeface="Times New Roman" panose="02020603050405020304" pitchFamily="18" charset="0"/>
                <a:ea typeface="Calibri" panose="020F0502020204030204" pitchFamily="34" charset="0"/>
                <a:cs typeface="Arial" panose="020B0604020202020204" pitchFamily="34" charset="0"/>
              </a:rPr>
              <a:t>For Password and repeat password fields, when the user leaves the repeat password field, we need to validate that they’re required, and they’re identical (The same), and if they’re not the same show text besides it saying “password and repeat password should be the same”; remove the validation message when the user enters it correctly.</a:t>
            </a:r>
            <a:endParaRPr lang="en-US" sz="1400" dirty="0">
              <a:latin typeface="Calibri" panose="020F0502020204030204" pitchFamily="34" charset="0"/>
              <a:ea typeface="Calibri" panose="020F0502020204030204" pitchFamily="34" charset="0"/>
              <a:cs typeface="Arial" panose="020B0604020202020204" pitchFamily="34" charset="0"/>
            </a:endParaRPr>
          </a:p>
          <a:p>
            <a:pPr marL="742950" marR="0" lvl="1" indent="-285750" algn="just">
              <a:lnSpc>
                <a:spcPct val="115000"/>
              </a:lnSpc>
              <a:spcBef>
                <a:spcPts val="0"/>
              </a:spcBef>
              <a:spcAft>
                <a:spcPts val="0"/>
              </a:spcAft>
              <a:buFont typeface="+mj-lt"/>
              <a:buAutoNum type="alphaLcPeriod"/>
            </a:pPr>
            <a:r>
              <a:rPr lang="en-US" sz="1400" dirty="0">
                <a:latin typeface="Times New Roman" panose="02020603050405020304" pitchFamily="18" charset="0"/>
                <a:ea typeface="Calibri" panose="020F0502020204030204" pitchFamily="34" charset="0"/>
                <a:cs typeface="Arial" panose="020B0604020202020204" pitchFamily="34" charset="0"/>
              </a:rPr>
              <a:t>Change the background color of the text input when it’s not valid to: gray, and to white when it’s valid.</a:t>
            </a:r>
            <a:endParaRPr lang="en-US" sz="1400" dirty="0">
              <a:latin typeface="Calibri" panose="020F0502020204030204" pitchFamily="34" charset="0"/>
              <a:ea typeface="Calibri" panose="020F0502020204030204" pitchFamily="34" charset="0"/>
              <a:cs typeface="Arial" panose="020B0604020202020204" pitchFamily="34" charset="0"/>
            </a:endParaRPr>
          </a:p>
          <a:p>
            <a:pPr marL="742950" marR="0" lvl="1" indent="-285750" algn="just">
              <a:lnSpc>
                <a:spcPct val="115000"/>
              </a:lnSpc>
              <a:spcBef>
                <a:spcPts val="0"/>
              </a:spcBef>
              <a:spcAft>
                <a:spcPts val="0"/>
              </a:spcAft>
              <a:buFont typeface="+mj-lt"/>
              <a:buAutoNum type="alphaLcPeriod"/>
            </a:pPr>
            <a:r>
              <a:rPr lang="en-US" sz="1400" dirty="0">
                <a:latin typeface="Times New Roman" panose="02020603050405020304" pitchFamily="18" charset="0"/>
                <a:ea typeface="Calibri" panose="020F0502020204030204" pitchFamily="34" charset="0"/>
                <a:cs typeface="Arial" panose="020B0604020202020204" pitchFamily="34" charset="0"/>
              </a:rPr>
              <a:t>For the Email, use HTML5 “Required” attribute, and input type email.</a:t>
            </a:r>
            <a:endParaRPr lang="en-US" sz="1400" dirty="0">
              <a:latin typeface="Calibri" panose="020F0502020204030204" pitchFamily="34" charset="0"/>
              <a:ea typeface="Calibri" panose="020F0502020204030204" pitchFamily="34" charset="0"/>
              <a:cs typeface="Arial" panose="020B0604020202020204" pitchFamily="34" charset="0"/>
            </a:endParaRPr>
          </a:p>
          <a:p>
            <a:pPr marL="1143000" marR="0" lvl="2" indent="-228600" algn="just">
              <a:lnSpc>
                <a:spcPct val="115000"/>
              </a:lnSpc>
              <a:spcBef>
                <a:spcPts val="0"/>
              </a:spcBef>
              <a:spcAft>
                <a:spcPts val="0"/>
              </a:spcAft>
              <a:buFont typeface="Symbol" panose="05050102010706020507" pitchFamily="18" charset="2"/>
              <a:buChar char=""/>
            </a:pPr>
            <a:r>
              <a:rPr lang="en-US" sz="1400" dirty="0">
                <a:latin typeface="Times New Roman" panose="02020603050405020304" pitchFamily="18" charset="0"/>
                <a:ea typeface="Calibri" panose="020F0502020204030204" pitchFamily="34" charset="0"/>
                <a:cs typeface="Arial" panose="020B0604020202020204" pitchFamily="34" charset="0"/>
              </a:rPr>
              <a:t>You’ll remark that HTML5 validation will prevent you from submitting the form unless it’s valid, right?</a:t>
            </a:r>
            <a:endParaRPr lang="en-US" sz="1400" dirty="0">
              <a:latin typeface="Calibri" panose="020F0502020204030204" pitchFamily="34" charset="0"/>
              <a:ea typeface="Calibri" panose="020F0502020204030204" pitchFamily="34" charset="0"/>
              <a:cs typeface="Arial" panose="020B0604020202020204" pitchFamily="34" charset="0"/>
            </a:endParaRPr>
          </a:p>
          <a:p>
            <a:pPr marL="1143000" marR="0" lvl="2" indent="-228600" algn="just">
              <a:lnSpc>
                <a:spcPct val="115000"/>
              </a:lnSpc>
              <a:spcBef>
                <a:spcPts val="0"/>
              </a:spcBef>
              <a:spcAft>
                <a:spcPts val="0"/>
              </a:spcAft>
              <a:buFont typeface="Symbol" panose="05050102010706020507" pitchFamily="18" charset="2"/>
              <a:buChar char=""/>
            </a:pPr>
            <a:r>
              <a:rPr lang="en-US" sz="1400" dirty="0">
                <a:latin typeface="Times New Roman" panose="02020603050405020304" pitchFamily="18" charset="0"/>
                <a:ea typeface="Calibri" panose="020F0502020204030204" pitchFamily="34" charset="0"/>
                <a:cs typeface="Arial" panose="020B0604020202020204" pitchFamily="34" charset="0"/>
              </a:rPr>
              <a:t>But for the other custom validation of the name and password &amp; repeat password, will not prevent the form for submitting and you can submit the form even if they’re not valid, why?</a:t>
            </a:r>
            <a:endParaRPr lang="en-US" sz="1400" dirty="0">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5562611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 name="object 45"/>
          <p:cNvPicPr/>
          <p:nvPr/>
        </p:nvPicPr>
        <p:blipFill>
          <a:blip r:embed="rId2" cstate="print"/>
          <a:stretch>
            <a:fillRect/>
          </a:stretch>
        </p:blipFill>
        <p:spPr>
          <a:xfrm>
            <a:off x="428" y="0"/>
            <a:ext cx="12191144" cy="825442"/>
          </a:xfrm>
          <a:prstGeom prst="rect">
            <a:avLst/>
          </a:prstGeom>
        </p:spPr>
      </p:pic>
      <p:sp>
        <p:nvSpPr>
          <p:cNvPr id="46" name="object 46"/>
          <p:cNvSpPr txBox="1">
            <a:spLocks noGrp="1"/>
          </p:cNvSpPr>
          <p:nvPr>
            <p:ph type="title"/>
          </p:nvPr>
        </p:nvSpPr>
        <p:spPr>
          <a:xfrm>
            <a:off x="366274" y="83681"/>
            <a:ext cx="4843177" cy="469373"/>
          </a:xfrm>
          <a:prstGeom prst="rect">
            <a:avLst/>
          </a:prstGeom>
        </p:spPr>
        <p:txBody>
          <a:bodyPr vert="horz" wrap="square" lIns="0" tIns="7316" rIns="0" bIns="0" rtlCol="0">
            <a:spAutoFit/>
          </a:bodyPr>
          <a:lstStyle/>
          <a:p>
            <a:pPr marL="7701">
              <a:spcBef>
                <a:spcPts val="58"/>
              </a:spcBef>
              <a:tabLst>
                <a:tab pos="1309218" algn="l"/>
                <a:tab pos="1946884" algn="l"/>
              </a:tabLst>
            </a:pPr>
            <a:r>
              <a:rPr lang="en-US">
                <a:solidFill>
                  <a:schemeClr val="bg1"/>
                </a:solidFill>
              </a:rPr>
              <a:t>TASKS</a:t>
            </a:r>
            <a:endParaRPr dirty="0">
              <a:solidFill>
                <a:schemeClr val="bg1"/>
              </a:solidFill>
            </a:endParaRPr>
          </a:p>
        </p:txBody>
      </p:sp>
      <p:sp>
        <p:nvSpPr>
          <p:cNvPr id="62" name="Rectangle 3">
            <a:extLst>
              <a:ext uri="{FF2B5EF4-FFF2-40B4-BE49-F238E27FC236}">
                <a16:creationId xmlns:a16="http://schemas.microsoft.com/office/drawing/2014/main" id="{33D61CD0-FB12-8873-EC13-A772FFD8E0FB}"/>
              </a:ext>
            </a:extLst>
          </p:cNvPr>
          <p:cNvSpPr>
            <a:spLocks noChangeArrowheads="1"/>
          </p:cNvSpPr>
          <p:nvPr/>
        </p:nvSpPr>
        <p:spPr bwMode="auto">
          <a:xfrm>
            <a:off x="1052074" y="414331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 name="Rectangle 2">
            <a:extLst>
              <a:ext uri="{FF2B5EF4-FFF2-40B4-BE49-F238E27FC236}">
                <a16:creationId xmlns:a16="http://schemas.microsoft.com/office/drawing/2014/main" id="{9B607AD6-9D65-4DDB-88BA-8634E6EDAE8C}"/>
              </a:ext>
            </a:extLst>
          </p:cNvPr>
          <p:cNvSpPr/>
          <p:nvPr/>
        </p:nvSpPr>
        <p:spPr>
          <a:xfrm>
            <a:off x="761999" y="946709"/>
            <a:ext cx="10668001" cy="4219745"/>
          </a:xfrm>
          <a:prstGeom prst="rect">
            <a:avLst/>
          </a:prstGeom>
        </p:spPr>
        <p:txBody>
          <a:bodyPr wrap="square">
            <a:spAutoFit/>
          </a:bodyPr>
          <a:lstStyle/>
          <a:p>
            <a:pPr marR="0" lvl="0" algn="just">
              <a:lnSpc>
                <a:spcPct val="115000"/>
              </a:lnSpc>
              <a:spcBef>
                <a:spcPts val="0"/>
              </a:spcBef>
              <a:spcAft>
                <a:spcPts val="0"/>
              </a:spcAft>
            </a:pPr>
            <a:r>
              <a:rPr lang="en-US" sz="2000" dirty="0">
                <a:latin typeface="Times New Roman" panose="02020603050405020304" pitchFamily="18" charset="0"/>
                <a:ea typeface="Calibri" panose="020F0502020204030204" pitchFamily="34" charset="0"/>
                <a:cs typeface="Arial" panose="020B0604020202020204" pitchFamily="34" charset="0"/>
              </a:rPr>
              <a:t>4. In the previous assignment, you’ll remark that if the full name or password and repeat password are invalid (and validation messages appear next to the text boxes), if you press the submit button, the form will submit regardless the validation you make in the blur event, so we need to fix it as the following.</a:t>
            </a:r>
            <a:endParaRPr lang="en-US" sz="2000" dirty="0">
              <a:latin typeface="Calibri" panose="020F0502020204030204" pitchFamily="34" charset="0"/>
              <a:ea typeface="Calibri" panose="020F0502020204030204" pitchFamily="34" charset="0"/>
              <a:cs typeface="Arial" panose="020B0604020202020204" pitchFamily="34" charset="0"/>
            </a:endParaRPr>
          </a:p>
          <a:p>
            <a:pPr marL="742950" marR="0" lvl="1" indent="-285750" algn="just">
              <a:lnSpc>
                <a:spcPct val="115000"/>
              </a:lnSpc>
              <a:spcBef>
                <a:spcPts val="0"/>
              </a:spcBef>
              <a:spcAft>
                <a:spcPts val="1000"/>
              </a:spcAft>
              <a:buFont typeface="+mj-lt"/>
              <a:buAutoNum type="alphaLcPeriod"/>
            </a:pPr>
            <a:r>
              <a:rPr lang="en-US" sz="2000" dirty="0">
                <a:latin typeface="Times New Roman" panose="02020603050405020304" pitchFamily="18" charset="0"/>
                <a:ea typeface="Calibri" panose="020F0502020204030204" pitchFamily="34" charset="0"/>
                <a:cs typeface="Arial" panose="020B0604020202020204" pitchFamily="34" charset="0"/>
              </a:rPr>
              <a:t>Handle </a:t>
            </a:r>
            <a:r>
              <a:rPr lang="en-US" sz="2000" dirty="0" err="1">
                <a:latin typeface="Times New Roman" panose="02020603050405020304" pitchFamily="18" charset="0"/>
                <a:ea typeface="Calibri" panose="020F0502020204030204" pitchFamily="34" charset="0"/>
                <a:cs typeface="Arial" panose="020B0604020202020204" pitchFamily="34" charset="0"/>
              </a:rPr>
              <a:t>onSubmit</a:t>
            </a:r>
            <a:r>
              <a:rPr lang="en-US" sz="2000" dirty="0">
                <a:latin typeface="Times New Roman" panose="02020603050405020304" pitchFamily="18" charset="0"/>
                <a:ea typeface="Calibri" panose="020F0502020204030204" pitchFamily="34" charset="0"/>
                <a:cs typeface="Arial" panose="020B0604020202020204" pitchFamily="34" charset="0"/>
              </a:rPr>
              <a:t> event for the form, and on the event handler function, check for the validation of the full name and password, if they’re correct, then submit the form (use Submit() function), if they’re not correct stop the form submitting (use </a:t>
            </a:r>
            <a:r>
              <a:rPr lang="en-US" sz="2000" dirty="0" err="1">
                <a:latin typeface="Times New Roman" panose="02020603050405020304" pitchFamily="18" charset="0"/>
                <a:ea typeface="Calibri" panose="020F0502020204030204" pitchFamily="34" charset="0"/>
                <a:cs typeface="Arial" panose="020B0604020202020204" pitchFamily="34" charset="0"/>
              </a:rPr>
              <a:t>event.preventDefault</a:t>
            </a:r>
            <a:r>
              <a:rPr lang="en-US" sz="2000" dirty="0">
                <a:latin typeface="Times New Roman" panose="02020603050405020304" pitchFamily="18" charset="0"/>
                <a:ea typeface="Calibri" panose="020F0502020204030204" pitchFamily="34" charset="0"/>
                <a:cs typeface="Arial" panose="020B0604020202020204" pitchFamily="34" charset="0"/>
              </a:rPr>
              <a:t>()), and show message for the user saying “</a:t>
            </a:r>
            <a:r>
              <a:rPr lang="en-US" sz="2000" dirty="0" err="1">
                <a:latin typeface="Times New Roman" panose="02020603050405020304" pitchFamily="18" charset="0"/>
                <a:ea typeface="Calibri" panose="020F0502020204030204" pitchFamily="34" charset="0"/>
                <a:cs typeface="Arial" panose="020B0604020202020204" pitchFamily="34" charset="0"/>
              </a:rPr>
              <a:t>Plz</a:t>
            </a:r>
            <a:r>
              <a:rPr lang="en-US" sz="2000" dirty="0">
                <a:latin typeface="Times New Roman" panose="02020603050405020304" pitchFamily="18" charset="0"/>
                <a:ea typeface="Calibri" panose="020F0502020204030204" pitchFamily="34" charset="0"/>
                <a:cs typeface="Arial" panose="020B0604020202020204" pitchFamily="34" charset="0"/>
              </a:rPr>
              <a:t> correct the validation errors first.</a:t>
            </a:r>
          </a:p>
          <a:p>
            <a:pPr marL="742950" marR="0" lvl="1" indent="-285750" algn="just">
              <a:lnSpc>
                <a:spcPct val="115000"/>
              </a:lnSpc>
              <a:spcBef>
                <a:spcPts val="0"/>
              </a:spcBef>
              <a:spcAft>
                <a:spcPts val="1000"/>
              </a:spcAft>
              <a:buFont typeface="+mj-lt"/>
              <a:buAutoNum type="alphaLcPeriod"/>
            </a:pPr>
            <a:r>
              <a:rPr lang="en-US" sz="2000" dirty="0">
                <a:effectLst/>
                <a:latin typeface="Times New Roman" panose="02020603050405020304" pitchFamily="18" charset="0"/>
                <a:ea typeface="Calibri" panose="020F0502020204030204" pitchFamily="34" charset="0"/>
                <a:cs typeface="Arial" panose="020B0604020202020204" pitchFamily="34" charset="0"/>
              </a:rPr>
              <a:t>save the previous data in cookie then display it in another html page</a:t>
            </a:r>
            <a:endParaRPr lang="en-US" sz="2000" dirty="0">
              <a:latin typeface="Calibri" panose="020F0502020204030204" pitchFamily="34" charset="0"/>
              <a:ea typeface="Calibri" panose="020F0502020204030204" pitchFamily="34" charset="0"/>
              <a:cs typeface="Arial" panose="020B0604020202020204" pitchFamily="34" charset="0"/>
            </a:endParaRPr>
          </a:p>
          <a:p>
            <a:pPr marR="0" lvl="1" algn="just">
              <a:lnSpc>
                <a:spcPct val="115000"/>
              </a:lnSpc>
              <a:spcBef>
                <a:spcPts val="0"/>
              </a:spcBef>
              <a:spcAft>
                <a:spcPts val="1000"/>
              </a:spcAft>
            </a:pPr>
            <a:r>
              <a:rPr lang="en-US" sz="2000">
                <a:effectLst/>
                <a:latin typeface="Calibri" panose="020F0502020204030204" pitchFamily="34" charset="0"/>
                <a:ea typeface="Calibri" panose="020F0502020204030204" pitchFamily="34" charset="0"/>
                <a:cs typeface="Arial" panose="020B0604020202020204" pitchFamily="34" charset="0"/>
              </a:rPr>
              <a:t>										</a:t>
            </a:r>
            <a:r>
              <a:rPr lang="en-US" sz="2000" dirty="0">
                <a:effectLst/>
                <a:latin typeface="Calibri" panose="020F0502020204030204" pitchFamily="34" charset="0"/>
                <a:ea typeface="Calibri" panose="020F0502020204030204" pitchFamily="34" charset="0"/>
                <a:cs typeface="Arial" panose="020B0604020202020204" pitchFamily="34" charset="0"/>
              </a:rPr>
              <a:t>	</a:t>
            </a:r>
            <a:r>
              <a:rPr lang="en-US" sz="2000">
                <a:effectLst/>
                <a:latin typeface="Calibri" panose="020F0502020204030204" pitchFamily="34" charset="0"/>
                <a:ea typeface="Calibri" panose="020F0502020204030204" pitchFamily="34" charset="0"/>
                <a:cs typeface="Arial" panose="020B0604020202020204" pitchFamily="34" charset="0"/>
              </a:rPr>
              <a:t>  5.Show </a:t>
            </a:r>
            <a:r>
              <a:rPr lang="en-US" sz="2000" dirty="0">
                <a:effectLst/>
                <a:latin typeface="Calibri" panose="020F0502020204030204" pitchFamily="34" charset="0"/>
                <a:ea typeface="Calibri" panose="020F0502020204030204" pitchFamily="34" charset="0"/>
                <a:cs typeface="Arial" panose="020B0604020202020204" pitchFamily="34" charset="0"/>
              </a:rPr>
              <a:t>through an </a:t>
            </a:r>
            <a:r>
              <a:rPr lang="en-US" sz="2000" dirty="0">
                <a:latin typeface="Calibri" panose="020F0502020204030204" pitchFamily="34" charset="0"/>
                <a:ea typeface="Calibri" panose="020F0502020204030204" pitchFamily="34" charset="0"/>
                <a:cs typeface="Arial" panose="020B0604020202020204" pitchFamily="34" charset="0"/>
              </a:rPr>
              <a:t>example the difference between </a:t>
            </a:r>
            <a:r>
              <a:rPr lang="en-US" sz="2000" dirty="0" err="1">
                <a:latin typeface="Calibri" panose="020F0502020204030204" pitchFamily="34" charset="0"/>
                <a:ea typeface="Calibri" panose="020F0502020204030204" pitchFamily="34" charset="0"/>
                <a:cs typeface="Arial" panose="020B0604020202020204" pitchFamily="34" charset="0"/>
              </a:rPr>
              <a:t>innerText</a:t>
            </a:r>
            <a:r>
              <a:rPr lang="en-US" sz="2000" dirty="0">
                <a:latin typeface="Calibri" panose="020F0502020204030204" pitchFamily="34" charset="0"/>
                <a:ea typeface="Calibri" panose="020F0502020204030204" pitchFamily="34" charset="0"/>
                <a:cs typeface="Arial" panose="020B0604020202020204" pitchFamily="34" charset="0"/>
              </a:rPr>
              <a:t> and </a:t>
            </a:r>
            <a:r>
              <a:rPr lang="en-US" sz="2000" dirty="0" err="1">
                <a:latin typeface="Calibri" panose="020F0502020204030204" pitchFamily="34" charset="0"/>
                <a:ea typeface="Calibri" panose="020F0502020204030204" pitchFamily="34" charset="0"/>
                <a:cs typeface="Arial" panose="020B0604020202020204" pitchFamily="34" charset="0"/>
              </a:rPr>
              <a:t>TextContent</a:t>
            </a:r>
            <a:endParaRPr lang="en-US" sz="2000" dirty="0">
              <a:effectLst/>
              <a:latin typeface="Times New Roman" panose="02020603050405020304" pitchFamily="18"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49089635"/>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407</TotalTime>
  <Words>724</Words>
  <Application>Microsoft Office PowerPoint</Application>
  <PresentationFormat>Widescreen</PresentationFormat>
  <Paragraphs>38</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Symbol</vt:lpstr>
      <vt:lpstr>Times New Roman</vt:lpstr>
      <vt:lpstr>1_Office Theme</vt:lpstr>
      <vt:lpstr>TASKS</vt:lpstr>
      <vt:lpstr>TASKS</vt:lpstr>
      <vt:lpstr>TASKS</vt:lpstr>
      <vt:lpstr>TASKS</vt:lpstr>
      <vt:lpstr>TASKS</vt:lpstr>
      <vt:lpstr>TASKS</vt:lpstr>
      <vt:lpstr>TASKS</vt:lpstr>
      <vt:lpstr>TASKS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Ryhab Farouq</dc:creator>
  <cp:lastModifiedBy>Ryhab Farouq</cp:lastModifiedBy>
  <cp:revision>19</cp:revision>
  <dcterms:created xsi:type="dcterms:W3CDTF">2023-03-17T11:25:56Z</dcterms:created>
  <dcterms:modified xsi:type="dcterms:W3CDTF">2025-12-11T11:43:41Z</dcterms:modified>
</cp:coreProperties>
</file>